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98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7397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A896"/>
          </a:solidFill>
          <a:ln/>
        </p:spPr>
      </p:sp>
      <p:sp>
        <p:nvSpPr>
          <p:cNvPr id="3" name="Shape 1"/>
          <p:cNvSpPr/>
          <p:nvPr/>
        </p:nvSpPr>
        <p:spPr>
          <a:xfrm>
            <a:off x="6583680" y="0"/>
            <a:ext cx="2560320" cy="5143500"/>
          </a:xfrm>
          <a:prstGeom prst="rect">
            <a:avLst/>
          </a:prstGeom>
          <a:solidFill>
            <a:srgbClr val="0A5C6B"/>
          </a:solidFill>
          <a:ln/>
        </p:spPr>
      </p:sp>
      <p:sp>
        <p:nvSpPr>
          <p:cNvPr id="4" name="Shape 2"/>
          <p:cNvSpPr/>
          <p:nvPr/>
        </p:nvSpPr>
        <p:spPr>
          <a:xfrm>
            <a:off x="6583680" y="0"/>
            <a:ext cx="2560320" cy="5143500"/>
          </a:xfrm>
          <a:prstGeom prst="rect">
            <a:avLst/>
          </a:prstGeom>
          <a:solidFill>
            <a:srgbClr val="000000">
              <a:alpha val="40000"/>
            </a:srgbClr>
          </a:solidFill>
          <a:ln/>
        </p:spPr>
      </p:sp>
      <p:sp>
        <p:nvSpPr>
          <p:cNvPr id="5" name="Shape 3"/>
          <p:cNvSpPr/>
          <p:nvPr/>
        </p:nvSpPr>
        <p:spPr>
          <a:xfrm>
            <a:off x="6949440" y="457200"/>
            <a:ext cx="1645920" cy="1645920"/>
          </a:xfrm>
          <a:prstGeom prst="ellipse">
            <a:avLst/>
          </a:prstGeom>
          <a:solidFill>
            <a:srgbClr val="00A896">
              <a:alpha val="30000"/>
            </a:srgbClr>
          </a:solidFill>
          <a:ln/>
        </p:spPr>
      </p:sp>
      <p:sp>
        <p:nvSpPr>
          <p:cNvPr id="6" name="Shape 4"/>
          <p:cNvSpPr/>
          <p:nvPr/>
        </p:nvSpPr>
        <p:spPr>
          <a:xfrm>
            <a:off x="7315200" y="2606040"/>
            <a:ext cx="1097280" cy="1097280"/>
          </a:xfrm>
          <a:prstGeom prst="ellipse">
            <a:avLst/>
          </a:prstGeom>
          <a:solidFill>
            <a:srgbClr val="02C39A">
              <a:alpha val="40000"/>
            </a:srgbClr>
          </a:solidFill>
          <a:ln/>
        </p:spPr>
      </p:sp>
      <p:sp>
        <p:nvSpPr>
          <p:cNvPr id="7" name="Text 5"/>
          <p:cNvSpPr/>
          <p:nvPr/>
        </p:nvSpPr>
        <p:spPr>
          <a:xfrm>
            <a:off x="365760" y="640080"/>
            <a:ext cx="5943600" cy="365760"/>
          </a:xfrm>
          <a:prstGeom prst="rect">
            <a:avLst/>
          </a:prstGeom>
          <a:noFill/>
          <a:ln/>
        </p:spPr>
        <p:txBody>
          <a:bodyPr wrap="square" rtlCol="0" anchor="ctr"/>
          <a:lstStyle/>
          <a:p>
            <a:pPr marL="0" indent="0">
              <a:buNone/>
            </a:pPr>
            <a:r>
              <a:rPr lang="en-US" sz="1000" b="1" kern="0" spc="400" dirty="0">
                <a:solidFill>
                  <a:srgbClr val="02C39A"/>
                </a:solidFill>
              </a:rPr>
              <a:t>EXECUTIVE SUMMARY</a:t>
            </a:r>
            <a:endParaRPr lang="en-US" sz="1000" dirty="0"/>
          </a:p>
        </p:txBody>
      </p:sp>
      <p:sp>
        <p:nvSpPr>
          <p:cNvPr id="8" name="Text 6"/>
          <p:cNvSpPr/>
          <p:nvPr/>
        </p:nvSpPr>
        <p:spPr>
          <a:xfrm>
            <a:off x="365760" y="1097280"/>
            <a:ext cx="6035040" cy="1005840"/>
          </a:xfrm>
          <a:prstGeom prst="rect">
            <a:avLst/>
          </a:prstGeom>
          <a:noFill/>
          <a:ln/>
        </p:spPr>
        <p:txBody>
          <a:bodyPr wrap="square"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Pesa Salama Classifier</a:t>
            </a:r>
            <a:endParaRPr lang="en-US" sz="4400" dirty="0"/>
          </a:p>
        </p:txBody>
      </p:sp>
      <p:sp>
        <p:nvSpPr>
          <p:cNvPr id="9" name="Text 7"/>
          <p:cNvSpPr/>
          <p:nvPr/>
        </p:nvSpPr>
        <p:spPr>
          <a:xfrm>
            <a:off x="365760" y="2148840"/>
            <a:ext cx="5943600" cy="914400"/>
          </a:xfrm>
          <a:prstGeom prst="rect">
            <a:avLst/>
          </a:prstGeom>
          <a:noFill/>
          <a:ln/>
        </p:spPr>
        <p:txBody>
          <a:bodyPr wrap="square" rtlCol="0" anchor="ctr"/>
          <a:lstStyle/>
          <a:p>
            <a:pPr marL="0" indent="0">
              <a:buNone/>
            </a:pPr>
            <a:r>
              <a:rPr lang="en-US" sz="1600" i="1" dirty="0">
                <a:solidFill>
                  <a:srgbClr val="CBD5E1"/>
                </a:solidFill>
              </a:rPr>
              <a:t>Real-time Financial Complaint Monitor &amp; Distress Index</a:t>
            </a:r>
            <a:endParaRPr lang="en-US" sz="1600" dirty="0"/>
          </a:p>
          <a:p>
            <a:pPr marL="0" indent="0">
              <a:buNone/>
            </a:pPr>
            <a:r>
              <a:rPr lang="en-US" sz="1600" i="1" dirty="0">
                <a:solidFill>
                  <a:srgbClr val="CBD5E1"/>
                </a:solidFill>
              </a:rPr>
              <a:t>for Kenya's Mobile Money Ecosystem</a:t>
            </a:r>
            <a:endParaRPr lang="en-US" sz="1600" dirty="0"/>
          </a:p>
        </p:txBody>
      </p:sp>
      <p:sp>
        <p:nvSpPr>
          <p:cNvPr id="10" name="Shape 8"/>
          <p:cNvSpPr/>
          <p:nvPr/>
        </p:nvSpPr>
        <p:spPr>
          <a:xfrm>
            <a:off x="365760" y="3154680"/>
            <a:ext cx="5029200" cy="36576"/>
          </a:xfrm>
          <a:prstGeom prst="rect">
            <a:avLst/>
          </a:prstGeom>
          <a:solidFill>
            <a:srgbClr val="00A896"/>
          </a:solidFill>
          <a:ln/>
        </p:spPr>
      </p:sp>
      <p:sp>
        <p:nvSpPr>
          <p:cNvPr id="11" name="Text 9"/>
          <p:cNvSpPr/>
          <p:nvPr/>
        </p:nvSpPr>
        <p:spPr>
          <a:xfrm>
            <a:off x="365760" y="3291840"/>
            <a:ext cx="6181344" cy="457200"/>
          </a:xfrm>
          <a:prstGeom prst="rect">
            <a:avLst/>
          </a:prstGeom>
          <a:noFill/>
          <a:ln/>
        </p:spPr>
        <p:txBody>
          <a:bodyPr wrap="square" rtlCol="0" anchor="ctr"/>
          <a:lstStyle/>
          <a:p>
            <a:pPr marL="0" indent="0">
              <a:buNone/>
            </a:pPr>
            <a:r>
              <a:rPr lang="en-US" sz="1200" dirty="0">
                <a:solidFill>
                  <a:srgbClr val="CBD5E1"/>
                </a:solidFill>
              </a:rPr>
              <a:t>Abby Stacy · Angela Mutiga · Daniel Owuor · Sonia Cherop · Marian Amondi · Brenda Chepkemoi</a:t>
            </a:r>
            <a:endParaRPr lang="en-US" sz="1200" dirty="0"/>
          </a:p>
        </p:txBody>
      </p:sp>
      <p:sp>
        <p:nvSpPr>
          <p:cNvPr id="12" name="Text 10"/>
          <p:cNvSpPr/>
          <p:nvPr/>
        </p:nvSpPr>
        <p:spPr>
          <a:xfrm>
            <a:off x="6656832" y="994410"/>
            <a:ext cx="2377440" cy="640080"/>
          </a:xfrm>
          <a:prstGeom prst="rect">
            <a:avLst/>
          </a:prstGeom>
          <a:noFill/>
          <a:ln/>
        </p:spPr>
        <p:txBody>
          <a:bodyPr wrap="square" rtlCol="0" anchor="ctr"/>
          <a:lstStyle/>
          <a:p>
            <a:pPr marL="0" indent="0" algn="ctr">
              <a:buNone/>
            </a:pPr>
            <a:r>
              <a:rPr lang="en-US" sz="2800" b="1" dirty="0">
                <a:solidFill>
                  <a:schemeClr val="bg1"/>
                </a:solidFill>
              </a:rPr>
              <a:t>50M+</a:t>
            </a:r>
            <a:endParaRPr lang="en-US" sz="2800" dirty="0">
              <a:solidFill>
                <a:schemeClr val="bg1"/>
              </a:solidFill>
            </a:endParaRPr>
          </a:p>
        </p:txBody>
      </p:sp>
      <p:sp>
        <p:nvSpPr>
          <p:cNvPr id="13" name="Text 11"/>
          <p:cNvSpPr/>
          <p:nvPr/>
        </p:nvSpPr>
        <p:spPr>
          <a:xfrm>
            <a:off x="6656832" y="2011680"/>
            <a:ext cx="2377440" cy="365760"/>
          </a:xfrm>
          <a:prstGeom prst="rect">
            <a:avLst/>
          </a:prstGeom>
          <a:noFill/>
          <a:ln/>
        </p:spPr>
        <p:txBody>
          <a:bodyPr wrap="square" rtlCol="0" anchor="ctr"/>
          <a:lstStyle/>
          <a:p>
            <a:pPr marL="0" indent="0" algn="ctr">
              <a:buNone/>
            </a:pPr>
            <a:r>
              <a:rPr lang="en-US" sz="1000" dirty="0">
                <a:solidFill>
                  <a:srgbClr val="CBD5E1"/>
                </a:solidFill>
              </a:rPr>
              <a:t>Daily Digital Finance Users</a:t>
            </a:r>
            <a:endParaRPr lang="en-US" sz="1000" dirty="0"/>
          </a:p>
        </p:txBody>
      </p:sp>
      <p:sp>
        <p:nvSpPr>
          <p:cNvPr id="14" name="Text 12"/>
          <p:cNvSpPr/>
          <p:nvPr/>
        </p:nvSpPr>
        <p:spPr>
          <a:xfrm>
            <a:off x="6675120" y="2834640"/>
            <a:ext cx="2377440" cy="640080"/>
          </a:xfrm>
          <a:prstGeom prst="rect">
            <a:avLst/>
          </a:prstGeom>
          <a:noFill/>
          <a:ln/>
        </p:spPr>
        <p:txBody>
          <a:bodyPr wrap="square" rtlCol="0" anchor="ctr"/>
          <a:lstStyle/>
          <a:p>
            <a:pPr marL="0" indent="0" algn="ctr">
              <a:buNone/>
            </a:pPr>
            <a:r>
              <a:rPr lang="en-US" sz="2800" b="1" dirty="0">
                <a:solidFill>
                  <a:srgbClr val="FFFFFF"/>
                </a:solidFill>
              </a:rPr>
              <a:t>50K</a:t>
            </a:r>
            <a:endParaRPr lang="en-US" sz="2800" dirty="0"/>
          </a:p>
        </p:txBody>
      </p:sp>
      <p:sp>
        <p:nvSpPr>
          <p:cNvPr id="15" name="Text 13"/>
          <p:cNvSpPr/>
          <p:nvPr/>
        </p:nvSpPr>
        <p:spPr>
          <a:xfrm>
            <a:off x="6656832" y="3577590"/>
            <a:ext cx="2377440" cy="365760"/>
          </a:xfrm>
          <a:prstGeom prst="rect">
            <a:avLst/>
          </a:prstGeom>
          <a:noFill/>
          <a:ln/>
        </p:spPr>
        <p:txBody>
          <a:bodyPr wrap="square" rtlCol="0" anchor="ctr"/>
          <a:lstStyle/>
          <a:p>
            <a:pPr marL="0" indent="0" algn="ctr">
              <a:buNone/>
            </a:pPr>
            <a:r>
              <a:rPr lang="en-US" sz="1000" dirty="0">
                <a:solidFill>
                  <a:srgbClr val="CBD5E1"/>
                </a:solidFill>
              </a:rPr>
              <a:t>Reviews Analysed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137"/>
          </a:solidFill>
          <a:ln/>
        </p:spPr>
      </p:sp>
      <p:sp>
        <p:nvSpPr>
          <p:cNvPr id="3" name="Text 1"/>
          <p:cNvSpPr/>
          <p:nvPr/>
        </p:nvSpPr>
        <p:spPr>
          <a:xfrm>
            <a:off x="365760" y="0"/>
            <a:ext cx="8229600" cy="502920"/>
          </a:xfrm>
          <a:prstGeom prst="rect">
            <a:avLst/>
          </a:prstGeom>
          <a:noFill/>
          <a:ln/>
        </p:spPr>
        <p:txBody>
          <a:bodyPr wrap="square" rtlCol="0" anchor="ctr"/>
          <a:lstStyle/>
          <a:p>
            <a:pPr marL="0" indent="0">
              <a:buNone/>
            </a:pPr>
            <a:r>
              <a:rPr lang="en-US" sz="1100" b="1" kern="0" spc="300" dirty="0">
                <a:solidFill>
                  <a:srgbClr val="02C39A"/>
                </a:solidFill>
              </a:rPr>
              <a:t>THE BUSINESS PROBLEM</a:t>
            </a:r>
            <a:endParaRPr lang="en-US" sz="1100" dirty="0"/>
          </a:p>
        </p:txBody>
      </p:sp>
      <p:sp>
        <p:nvSpPr>
          <p:cNvPr id="4" name="Text 2"/>
          <p:cNvSpPr/>
          <p:nvPr/>
        </p:nvSpPr>
        <p:spPr>
          <a:xfrm>
            <a:off x="365760" y="475488"/>
            <a:ext cx="8412480" cy="50292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Kenya's Fintech Boom is Outpacing Consumer Protection</a:t>
            </a:r>
            <a:endParaRPr lang="en-US" sz="2000" dirty="0"/>
          </a:p>
        </p:txBody>
      </p:sp>
      <p:sp>
        <p:nvSpPr>
          <p:cNvPr id="5" name="Text 3"/>
          <p:cNvSpPr/>
          <p:nvPr/>
        </p:nvSpPr>
        <p:spPr>
          <a:xfrm>
            <a:off x="365759" y="1143000"/>
            <a:ext cx="8303787" cy="822960"/>
          </a:xfrm>
          <a:prstGeom prst="rect">
            <a:avLst/>
          </a:prstGeom>
          <a:noFill/>
          <a:ln/>
        </p:spPr>
        <p:txBody>
          <a:bodyPr wrap="square" rtlCol="0" anchor="ctr"/>
          <a:lstStyle/>
          <a:p>
            <a:pPr marL="0" indent="0">
              <a:buNone/>
            </a:pPr>
            <a:r>
              <a:rPr lang="en-US" sz="1300" dirty="0">
                <a:solidFill>
                  <a:srgbClr val="334155"/>
                </a:solidFill>
              </a:rPr>
              <a:t>Kenya has built one of the world's most advanced digital finance ecosystems yet the system is growing faster than our ability to monitor consumer risk, fraud signals, and service failures in real time.</a:t>
            </a:r>
            <a:endParaRPr lang="en-US" sz="1300" dirty="0"/>
          </a:p>
        </p:txBody>
      </p:sp>
      <p:sp>
        <p:nvSpPr>
          <p:cNvPr id="6" name="Shape 4"/>
          <p:cNvSpPr/>
          <p:nvPr/>
        </p:nvSpPr>
        <p:spPr>
          <a:xfrm>
            <a:off x="320040" y="2103120"/>
            <a:ext cx="1920240" cy="1920240"/>
          </a:xfrm>
          <a:prstGeom prst="rect">
            <a:avLst/>
          </a:prstGeom>
          <a:solidFill>
            <a:srgbClr val="FFFFFF"/>
          </a:solidFill>
          <a:ln/>
          <a:effectLst>
            <a:outerShdw blurRad="101600" dist="38100" dir="8100000" algn="bl" rotWithShape="0">
              <a:srgbClr val="000000">
                <a:alpha val="12000"/>
              </a:srgbClr>
            </a:outerShdw>
          </a:effectLst>
        </p:spPr>
      </p:sp>
      <p:sp>
        <p:nvSpPr>
          <p:cNvPr id="7" name="Shape 5"/>
          <p:cNvSpPr/>
          <p:nvPr/>
        </p:nvSpPr>
        <p:spPr>
          <a:xfrm>
            <a:off x="320040" y="2103120"/>
            <a:ext cx="1920240" cy="164592"/>
          </a:xfrm>
          <a:prstGeom prst="rect">
            <a:avLst/>
          </a:prstGeom>
          <a:solidFill>
            <a:srgbClr val="EF4444"/>
          </a:solidFill>
          <a:ln/>
        </p:spPr>
      </p:sp>
      <p:sp>
        <p:nvSpPr>
          <p:cNvPr id="8" name="Text 6"/>
          <p:cNvSpPr/>
          <p:nvPr/>
        </p:nvSpPr>
        <p:spPr>
          <a:xfrm>
            <a:off x="411480" y="2331720"/>
            <a:ext cx="1737360" cy="411480"/>
          </a:xfrm>
          <a:prstGeom prst="rect">
            <a:avLst/>
          </a:prstGeom>
          <a:noFill/>
          <a:ln/>
        </p:spPr>
        <p:txBody>
          <a:bodyPr wrap="square" rtlCol="0" anchor="ctr"/>
          <a:lstStyle/>
          <a:p>
            <a:pPr marL="0" indent="0">
              <a:buNone/>
            </a:pPr>
            <a:r>
              <a:rPr lang="en-US" sz="1200" b="1" dirty="0">
                <a:solidFill>
                  <a:srgbClr val="0D2137"/>
                </a:solidFill>
              </a:rPr>
              <a:t>Consumer Trust Erosion</a:t>
            </a:r>
            <a:endParaRPr lang="en-US" sz="1200" dirty="0"/>
          </a:p>
        </p:txBody>
      </p:sp>
      <p:sp>
        <p:nvSpPr>
          <p:cNvPr id="9" name="Text 7"/>
          <p:cNvSpPr/>
          <p:nvPr/>
        </p:nvSpPr>
        <p:spPr>
          <a:xfrm>
            <a:off x="411480" y="2761488"/>
            <a:ext cx="1737360" cy="1005840"/>
          </a:xfrm>
          <a:prstGeom prst="rect">
            <a:avLst/>
          </a:prstGeom>
          <a:noFill/>
          <a:ln/>
        </p:spPr>
        <p:txBody>
          <a:bodyPr wrap="square" rtlCol="0" anchor="ctr"/>
          <a:lstStyle/>
          <a:p>
            <a:pPr marL="0" indent="0">
              <a:buNone/>
            </a:pPr>
            <a:r>
              <a:rPr lang="en-US" sz="1100" dirty="0">
                <a:solidFill>
                  <a:srgbClr val="334155"/>
                </a:solidFill>
              </a:rPr>
              <a:t>Unresolved issues erode user confidence in digital finance.</a:t>
            </a:r>
            <a:endParaRPr lang="en-US" sz="1100" dirty="0"/>
          </a:p>
        </p:txBody>
      </p:sp>
      <p:sp>
        <p:nvSpPr>
          <p:cNvPr id="10" name="Shape 8"/>
          <p:cNvSpPr/>
          <p:nvPr/>
        </p:nvSpPr>
        <p:spPr>
          <a:xfrm>
            <a:off x="2368296" y="2103120"/>
            <a:ext cx="1920240" cy="1920240"/>
          </a:xfrm>
          <a:prstGeom prst="rect">
            <a:avLst/>
          </a:prstGeom>
          <a:solidFill>
            <a:srgbClr val="FFFFFF"/>
          </a:solidFill>
          <a:ln/>
          <a:effectLst>
            <a:outerShdw blurRad="101600" dist="38100" dir="8100000" algn="bl" rotWithShape="0">
              <a:srgbClr val="000000">
                <a:alpha val="12000"/>
              </a:srgbClr>
            </a:outerShdw>
          </a:effectLst>
        </p:spPr>
      </p:sp>
      <p:sp>
        <p:nvSpPr>
          <p:cNvPr id="11" name="Shape 9"/>
          <p:cNvSpPr/>
          <p:nvPr/>
        </p:nvSpPr>
        <p:spPr>
          <a:xfrm>
            <a:off x="2368296" y="2103120"/>
            <a:ext cx="1920240" cy="164592"/>
          </a:xfrm>
          <a:prstGeom prst="rect">
            <a:avLst/>
          </a:prstGeom>
          <a:solidFill>
            <a:srgbClr val="F59E0B"/>
          </a:solidFill>
          <a:ln/>
        </p:spPr>
      </p:sp>
      <p:sp>
        <p:nvSpPr>
          <p:cNvPr id="12" name="Text 10"/>
          <p:cNvSpPr/>
          <p:nvPr/>
        </p:nvSpPr>
        <p:spPr>
          <a:xfrm>
            <a:off x="2459736" y="2331720"/>
            <a:ext cx="1737360" cy="411480"/>
          </a:xfrm>
          <a:prstGeom prst="rect">
            <a:avLst/>
          </a:prstGeom>
          <a:noFill/>
          <a:ln/>
        </p:spPr>
        <p:txBody>
          <a:bodyPr wrap="square" rtlCol="0" anchor="ctr"/>
          <a:lstStyle/>
          <a:p>
            <a:pPr marL="0" indent="0">
              <a:buNone/>
            </a:pPr>
            <a:r>
              <a:rPr lang="en-US" sz="1200" b="1" dirty="0">
                <a:solidFill>
                  <a:srgbClr val="0D2137"/>
                </a:solidFill>
              </a:rPr>
              <a:t>Delayed Crisis Detection</a:t>
            </a:r>
            <a:endParaRPr lang="en-US" sz="1200" dirty="0"/>
          </a:p>
        </p:txBody>
      </p:sp>
      <p:sp>
        <p:nvSpPr>
          <p:cNvPr id="13" name="Text 11"/>
          <p:cNvSpPr/>
          <p:nvPr/>
        </p:nvSpPr>
        <p:spPr>
          <a:xfrm>
            <a:off x="2459736" y="2761488"/>
            <a:ext cx="1737360" cy="1005840"/>
          </a:xfrm>
          <a:prstGeom prst="rect">
            <a:avLst/>
          </a:prstGeom>
          <a:noFill/>
          <a:ln/>
        </p:spPr>
        <p:txBody>
          <a:bodyPr wrap="square" rtlCol="0" anchor="ctr"/>
          <a:lstStyle/>
          <a:p>
            <a:pPr marL="0" indent="0">
              <a:buNone/>
            </a:pPr>
            <a:r>
              <a:rPr lang="en-US" sz="1100" dirty="0">
                <a:solidFill>
                  <a:srgbClr val="334155"/>
                </a:solidFill>
              </a:rPr>
              <a:t>Operational failures identified too late after damage is done.</a:t>
            </a:r>
            <a:endParaRPr lang="en-US" sz="1100" dirty="0"/>
          </a:p>
        </p:txBody>
      </p:sp>
      <p:sp>
        <p:nvSpPr>
          <p:cNvPr id="14" name="Shape 12"/>
          <p:cNvSpPr/>
          <p:nvPr/>
        </p:nvSpPr>
        <p:spPr>
          <a:xfrm>
            <a:off x="4416552" y="2103120"/>
            <a:ext cx="1920240" cy="1920240"/>
          </a:xfrm>
          <a:prstGeom prst="rect">
            <a:avLst/>
          </a:prstGeom>
          <a:solidFill>
            <a:srgbClr val="FFFFFF"/>
          </a:solidFill>
          <a:ln/>
          <a:effectLst>
            <a:outerShdw blurRad="101600" dist="38100" dir="8100000" algn="bl" rotWithShape="0">
              <a:srgbClr val="000000">
                <a:alpha val="12000"/>
              </a:srgbClr>
            </a:outerShdw>
          </a:effectLst>
        </p:spPr>
      </p:sp>
      <p:sp>
        <p:nvSpPr>
          <p:cNvPr id="15" name="Shape 13"/>
          <p:cNvSpPr/>
          <p:nvPr/>
        </p:nvSpPr>
        <p:spPr>
          <a:xfrm>
            <a:off x="4416552" y="2103120"/>
            <a:ext cx="1920240" cy="164592"/>
          </a:xfrm>
          <a:prstGeom prst="rect">
            <a:avLst/>
          </a:prstGeom>
          <a:solidFill>
            <a:srgbClr val="0A5C6B"/>
          </a:solidFill>
          <a:ln/>
        </p:spPr>
      </p:sp>
      <p:sp>
        <p:nvSpPr>
          <p:cNvPr id="16" name="Text 14"/>
          <p:cNvSpPr/>
          <p:nvPr/>
        </p:nvSpPr>
        <p:spPr>
          <a:xfrm>
            <a:off x="4507992" y="2331720"/>
            <a:ext cx="1737360" cy="411480"/>
          </a:xfrm>
          <a:prstGeom prst="rect">
            <a:avLst/>
          </a:prstGeom>
          <a:noFill/>
          <a:ln/>
        </p:spPr>
        <p:txBody>
          <a:bodyPr wrap="square" rtlCol="0" anchor="ctr"/>
          <a:lstStyle/>
          <a:p>
            <a:pPr marL="0" indent="0">
              <a:buNone/>
            </a:pPr>
            <a:r>
              <a:rPr lang="en-US" sz="1200" b="1" dirty="0">
                <a:solidFill>
                  <a:srgbClr val="0D2137"/>
                </a:solidFill>
              </a:rPr>
              <a:t>Regulatory Blind Spots</a:t>
            </a:r>
            <a:endParaRPr lang="en-US" sz="1200" dirty="0"/>
          </a:p>
        </p:txBody>
      </p:sp>
      <p:sp>
        <p:nvSpPr>
          <p:cNvPr id="17" name="Text 15"/>
          <p:cNvSpPr/>
          <p:nvPr/>
        </p:nvSpPr>
        <p:spPr>
          <a:xfrm>
            <a:off x="4507992" y="2761488"/>
            <a:ext cx="1737360" cy="1005840"/>
          </a:xfrm>
          <a:prstGeom prst="rect">
            <a:avLst/>
          </a:prstGeom>
          <a:noFill/>
          <a:ln/>
        </p:spPr>
        <p:txBody>
          <a:bodyPr wrap="square" rtlCol="0" anchor="ctr"/>
          <a:lstStyle/>
          <a:p>
            <a:pPr marL="0" indent="0">
              <a:buNone/>
            </a:pPr>
            <a:r>
              <a:rPr lang="en-US" sz="1100" dirty="0">
                <a:solidFill>
                  <a:srgbClr val="334155"/>
                </a:solidFill>
              </a:rPr>
              <a:t>Authorities lack centralised, real-time ecosystem intelligence.</a:t>
            </a:r>
            <a:endParaRPr lang="en-US" sz="1100" dirty="0"/>
          </a:p>
        </p:txBody>
      </p:sp>
      <p:sp>
        <p:nvSpPr>
          <p:cNvPr id="18" name="Shape 16"/>
          <p:cNvSpPr/>
          <p:nvPr/>
        </p:nvSpPr>
        <p:spPr>
          <a:xfrm>
            <a:off x="6464808" y="2103120"/>
            <a:ext cx="1920240" cy="1920240"/>
          </a:xfrm>
          <a:prstGeom prst="rect">
            <a:avLst/>
          </a:prstGeom>
          <a:solidFill>
            <a:srgbClr val="FFFFFF"/>
          </a:solidFill>
          <a:ln/>
          <a:effectLst>
            <a:outerShdw blurRad="101600" dist="38100" dir="8100000" algn="bl" rotWithShape="0">
              <a:srgbClr val="000000">
                <a:alpha val="12000"/>
              </a:srgbClr>
            </a:outerShdw>
          </a:effectLst>
        </p:spPr>
      </p:sp>
      <p:sp>
        <p:nvSpPr>
          <p:cNvPr id="19" name="Shape 17"/>
          <p:cNvSpPr/>
          <p:nvPr/>
        </p:nvSpPr>
        <p:spPr>
          <a:xfrm>
            <a:off x="6464808" y="2103120"/>
            <a:ext cx="1920240" cy="164592"/>
          </a:xfrm>
          <a:prstGeom prst="rect">
            <a:avLst/>
          </a:prstGeom>
          <a:solidFill>
            <a:srgbClr val="0D2137"/>
          </a:solidFill>
          <a:ln/>
        </p:spPr>
      </p:sp>
      <p:sp>
        <p:nvSpPr>
          <p:cNvPr id="20" name="Text 18"/>
          <p:cNvSpPr/>
          <p:nvPr/>
        </p:nvSpPr>
        <p:spPr>
          <a:xfrm>
            <a:off x="6556248" y="2331720"/>
            <a:ext cx="1737360" cy="411480"/>
          </a:xfrm>
          <a:prstGeom prst="rect">
            <a:avLst/>
          </a:prstGeom>
          <a:noFill/>
          <a:ln/>
        </p:spPr>
        <p:txBody>
          <a:bodyPr wrap="square" rtlCol="0" anchor="ctr"/>
          <a:lstStyle/>
          <a:p>
            <a:pPr marL="0" indent="0">
              <a:buNone/>
            </a:pPr>
            <a:r>
              <a:rPr lang="en-US" sz="1200" b="1" dirty="0">
                <a:solidFill>
                  <a:srgbClr val="0D2137"/>
                </a:solidFill>
              </a:rPr>
              <a:t>Revenue &amp; Reputation Risk</a:t>
            </a:r>
            <a:endParaRPr lang="en-US" sz="1200" dirty="0"/>
          </a:p>
        </p:txBody>
      </p:sp>
      <p:sp>
        <p:nvSpPr>
          <p:cNvPr id="21" name="Text 19"/>
          <p:cNvSpPr/>
          <p:nvPr/>
        </p:nvSpPr>
        <p:spPr>
          <a:xfrm>
            <a:off x="6556248" y="2761488"/>
            <a:ext cx="1737360" cy="1005840"/>
          </a:xfrm>
          <a:prstGeom prst="rect">
            <a:avLst/>
          </a:prstGeom>
          <a:noFill/>
          <a:ln/>
        </p:spPr>
        <p:txBody>
          <a:bodyPr wrap="square" rtlCol="0" anchor="ctr"/>
          <a:lstStyle/>
          <a:p>
            <a:pPr marL="0" indent="0">
              <a:buNone/>
            </a:pPr>
            <a:r>
              <a:rPr lang="en-US" sz="1100" dirty="0">
                <a:solidFill>
                  <a:srgbClr val="334155"/>
                </a:solidFill>
              </a:rPr>
              <a:t>Fintech platforms suffer churn and public backlash.</a:t>
            </a:r>
            <a:endParaRPr lang="en-US" sz="1100" dirty="0"/>
          </a:p>
        </p:txBody>
      </p:sp>
      <p:sp>
        <p:nvSpPr>
          <p:cNvPr id="22" name="Text 20"/>
          <p:cNvSpPr/>
          <p:nvPr/>
        </p:nvSpPr>
        <p:spPr>
          <a:xfrm>
            <a:off x="365760" y="4160520"/>
            <a:ext cx="8412480" cy="731520"/>
          </a:xfrm>
          <a:prstGeom prst="rect">
            <a:avLst/>
          </a:prstGeom>
          <a:noFill/>
          <a:ln/>
        </p:spPr>
        <p:txBody>
          <a:bodyPr wrap="square" rtlCol="0" anchor="ctr"/>
          <a:lstStyle/>
          <a:p>
            <a:pPr marL="0" indent="0" algn="ctr">
              <a:buNone/>
            </a:pPr>
            <a:r>
              <a:rPr lang="en-US" sz="1200" i="1" dirty="0">
                <a:solidFill>
                  <a:srgbClr val="0A5C6B"/>
                </a:solidFill>
              </a:rPr>
              <a:t>Millions of complaints posted online annually go unanalysed.</a:t>
            </a:r>
            <a:endParaRPr lang="en-US" sz="1200" dirty="0"/>
          </a:p>
          <a:p>
            <a:pPr marL="0" indent="0" algn="ctr">
              <a:buNone/>
            </a:pPr>
            <a:r>
              <a:rPr lang="en-US" sz="1200" i="1" dirty="0">
                <a:solidFill>
                  <a:srgbClr val="0A5C6B"/>
                </a:solidFill>
              </a:rPr>
              <a:t>Complaint review is largely manual and reactive.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5C6B"/>
          </a:solidFill>
          <a:ln/>
        </p:spPr>
      </p:sp>
      <p:sp>
        <p:nvSpPr>
          <p:cNvPr id="3" name="Text 1"/>
          <p:cNvSpPr/>
          <p:nvPr/>
        </p:nvSpPr>
        <p:spPr>
          <a:xfrm>
            <a:off x="365760" y="0"/>
            <a:ext cx="8229600" cy="502920"/>
          </a:xfrm>
          <a:prstGeom prst="rect">
            <a:avLst/>
          </a:prstGeom>
          <a:noFill/>
          <a:ln/>
        </p:spPr>
        <p:txBody>
          <a:bodyPr wrap="square" rtlCol="0" anchor="ctr"/>
          <a:lstStyle/>
          <a:p>
            <a:pPr marL="0" indent="0">
              <a:buNone/>
            </a:pPr>
            <a:r>
              <a:rPr lang="en-US" sz="1100" b="1" kern="0" spc="300" dirty="0">
                <a:solidFill>
                  <a:srgbClr val="02C39A"/>
                </a:solidFill>
              </a:rPr>
              <a:t>SOLUTION ARCHITECTURE</a:t>
            </a:r>
            <a:endParaRPr lang="en-US" sz="1100" dirty="0"/>
          </a:p>
        </p:txBody>
      </p:sp>
      <p:sp>
        <p:nvSpPr>
          <p:cNvPr id="4" name="Text 2"/>
          <p:cNvSpPr/>
          <p:nvPr/>
        </p:nvSpPr>
        <p:spPr>
          <a:xfrm>
            <a:off x="365760" y="475488"/>
            <a:ext cx="8229600" cy="50292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How Pesa Salama Works — End to End</a:t>
            </a:r>
            <a:endParaRPr lang="en-US" sz="2000" dirty="0"/>
          </a:p>
        </p:txBody>
      </p:sp>
      <p:sp>
        <p:nvSpPr>
          <p:cNvPr id="5" name="Shape 3"/>
          <p:cNvSpPr/>
          <p:nvPr/>
        </p:nvSpPr>
        <p:spPr>
          <a:xfrm>
            <a:off x="274320" y="1188720"/>
            <a:ext cx="1627632" cy="3200400"/>
          </a:xfrm>
          <a:prstGeom prst="rect">
            <a:avLst/>
          </a:prstGeom>
          <a:solidFill>
            <a:srgbClr val="0A5C6B"/>
          </a:solidFill>
          <a:ln/>
          <a:effectLst>
            <a:outerShdw blurRad="101600" dist="38100" dir="8100000" algn="bl" rotWithShape="0">
              <a:srgbClr val="000000">
                <a:alpha val="12000"/>
              </a:srgbClr>
            </a:outerShdw>
          </a:effectLst>
        </p:spPr>
      </p:sp>
      <p:sp>
        <p:nvSpPr>
          <p:cNvPr id="6" name="Shape 4"/>
          <p:cNvSpPr/>
          <p:nvPr/>
        </p:nvSpPr>
        <p:spPr>
          <a:xfrm>
            <a:off x="274320" y="1188720"/>
            <a:ext cx="1627632" cy="457200"/>
          </a:xfrm>
          <a:prstGeom prst="rect">
            <a:avLst/>
          </a:prstGeom>
          <a:solidFill>
            <a:srgbClr val="00A896"/>
          </a:solidFill>
          <a:ln/>
        </p:spPr>
      </p:sp>
      <p:sp>
        <p:nvSpPr>
          <p:cNvPr id="7" name="Text 5"/>
          <p:cNvSpPr/>
          <p:nvPr/>
        </p:nvSpPr>
        <p:spPr>
          <a:xfrm>
            <a:off x="274320" y="1252728"/>
            <a:ext cx="1627632" cy="347472"/>
          </a:xfrm>
          <a:prstGeom prst="rect">
            <a:avLst/>
          </a:prstGeom>
          <a:noFill/>
          <a:ln/>
        </p:spPr>
        <p:txBody>
          <a:bodyPr wrap="square" rtlCol="0" anchor="ctr"/>
          <a:lstStyle/>
          <a:p>
            <a:pPr marL="0" indent="0" algn="ctr">
              <a:buNone/>
            </a:pPr>
            <a:r>
              <a:rPr lang="en-US" sz="1400" b="1" dirty="0">
                <a:solidFill>
                  <a:srgbClr val="FFFFFF"/>
                </a:solidFill>
              </a:rPr>
              <a:t>01</a:t>
            </a:r>
            <a:endParaRPr lang="en-US" sz="1400" dirty="0"/>
          </a:p>
        </p:txBody>
      </p:sp>
      <p:sp>
        <p:nvSpPr>
          <p:cNvPr id="8" name="Text 6"/>
          <p:cNvSpPr/>
          <p:nvPr/>
        </p:nvSpPr>
        <p:spPr>
          <a:xfrm>
            <a:off x="365760" y="1737360"/>
            <a:ext cx="1444752" cy="502920"/>
          </a:xfrm>
          <a:prstGeom prst="rect">
            <a:avLst/>
          </a:prstGeom>
          <a:noFill/>
          <a:ln/>
        </p:spPr>
        <p:txBody>
          <a:bodyPr wrap="square" rtlCol="0" anchor="ctr"/>
          <a:lstStyle/>
          <a:p>
            <a:pPr marL="0" indent="0">
              <a:buNone/>
            </a:pPr>
            <a:r>
              <a:rPr lang="en-US" sz="1200" b="1" dirty="0">
                <a:solidFill>
                  <a:srgbClr val="02C39A"/>
                </a:solidFill>
              </a:rPr>
              <a:t>Data Ingestion</a:t>
            </a:r>
            <a:endParaRPr lang="en-US" sz="1200" dirty="0"/>
          </a:p>
        </p:txBody>
      </p:sp>
      <p:sp>
        <p:nvSpPr>
          <p:cNvPr id="9" name="Text 7"/>
          <p:cNvSpPr/>
          <p:nvPr/>
        </p:nvSpPr>
        <p:spPr>
          <a:xfrm>
            <a:off x="365760" y="2286000"/>
            <a:ext cx="1444752" cy="2194560"/>
          </a:xfrm>
          <a:prstGeom prst="rect">
            <a:avLst/>
          </a:prstGeom>
          <a:noFill/>
          <a:ln/>
        </p:spPr>
        <p:txBody>
          <a:bodyPr wrap="square" rtlCol="0" anchor="ctr"/>
          <a:lstStyle/>
          <a:p>
            <a:pPr marL="0" indent="0">
              <a:buNone/>
            </a:pPr>
            <a:r>
              <a:rPr lang="en-US" sz="1000" dirty="0">
                <a:solidFill>
                  <a:srgbClr val="CBD5E1"/>
                </a:solidFill>
              </a:rPr>
              <a:t>50K+ customer reviews from M-Pesa, KCB, Equity, Tala &amp; Branch</a:t>
            </a:r>
            <a:endParaRPr lang="en-US" sz="1000" dirty="0"/>
          </a:p>
          <a:p>
            <a:pPr marL="0" indent="0">
              <a:buNone/>
            </a:pPr>
            <a:r>
              <a:rPr lang="en-US" sz="1000" dirty="0">
                <a:solidFill>
                  <a:srgbClr val="CBD5E1"/>
                </a:solidFill>
              </a:rPr>
              <a:t>(English · Swahili · Sheng)</a:t>
            </a:r>
            <a:endParaRPr lang="en-US" sz="1000" dirty="0"/>
          </a:p>
        </p:txBody>
      </p:sp>
      <p:sp>
        <p:nvSpPr>
          <p:cNvPr id="10" name="Shape 8"/>
          <p:cNvSpPr/>
          <p:nvPr/>
        </p:nvSpPr>
        <p:spPr>
          <a:xfrm>
            <a:off x="1901952" y="2560320"/>
            <a:ext cx="137160" cy="54864"/>
          </a:xfrm>
          <a:prstGeom prst="rect">
            <a:avLst/>
          </a:prstGeom>
          <a:solidFill>
            <a:srgbClr val="00A896"/>
          </a:solidFill>
          <a:ln/>
        </p:spPr>
      </p:sp>
      <p:sp>
        <p:nvSpPr>
          <p:cNvPr id="11" name="Shape 9"/>
          <p:cNvSpPr/>
          <p:nvPr/>
        </p:nvSpPr>
        <p:spPr>
          <a:xfrm>
            <a:off x="2048256" y="1188720"/>
            <a:ext cx="1627632" cy="3200400"/>
          </a:xfrm>
          <a:prstGeom prst="rect">
            <a:avLst/>
          </a:prstGeom>
          <a:solidFill>
            <a:srgbClr val="0A5C6B"/>
          </a:solidFill>
          <a:ln/>
          <a:effectLst>
            <a:outerShdw blurRad="101600" dist="38100" dir="8100000" algn="bl" rotWithShape="0">
              <a:srgbClr val="000000">
                <a:alpha val="12000"/>
              </a:srgbClr>
            </a:outerShdw>
          </a:effectLst>
        </p:spPr>
      </p:sp>
      <p:sp>
        <p:nvSpPr>
          <p:cNvPr id="12" name="Shape 10"/>
          <p:cNvSpPr/>
          <p:nvPr/>
        </p:nvSpPr>
        <p:spPr>
          <a:xfrm>
            <a:off x="2048256" y="1188720"/>
            <a:ext cx="1627632" cy="457200"/>
          </a:xfrm>
          <a:prstGeom prst="rect">
            <a:avLst/>
          </a:prstGeom>
          <a:solidFill>
            <a:srgbClr val="00A896"/>
          </a:solidFill>
          <a:ln/>
        </p:spPr>
      </p:sp>
      <p:sp>
        <p:nvSpPr>
          <p:cNvPr id="13" name="Text 11"/>
          <p:cNvSpPr/>
          <p:nvPr/>
        </p:nvSpPr>
        <p:spPr>
          <a:xfrm>
            <a:off x="2048256" y="1252728"/>
            <a:ext cx="1627632" cy="347472"/>
          </a:xfrm>
          <a:prstGeom prst="rect">
            <a:avLst/>
          </a:prstGeom>
          <a:noFill/>
          <a:ln/>
        </p:spPr>
        <p:txBody>
          <a:bodyPr wrap="square" rtlCol="0" anchor="ctr"/>
          <a:lstStyle/>
          <a:p>
            <a:pPr marL="0" indent="0" algn="ctr">
              <a:buNone/>
            </a:pPr>
            <a:r>
              <a:rPr lang="en-US" sz="1400" b="1" dirty="0">
                <a:solidFill>
                  <a:srgbClr val="FFFFFF"/>
                </a:solidFill>
              </a:rPr>
              <a:t>02</a:t>
            </a:r>
            <a:endParaRPr lang="en-US" sz="1400" dirty="0"/>
          </a:p>
        </p:txBody>
      </p:sp>
      <p:sp>
        <p:nvSpPr>
          <p:cNvPr id="14" name="Text 12"/>
          <p:cNvSpPr/>
          <p:nvPr/>
        </p:nvSpPr>
        <p:spPr>
          <a:xfrm>
            <a:off x="2139696" y="1737360"/>
            <a:ext cx="1444752" cy="502920"/>
          </a:xfrm>
          <a:prstGeom prst="rect">
            <a:avLst/>
          </a:prstGeom>
          <a:noFill/>
          <a:ln/>
        </p:spPr>
        <p:txBody>
          <a:bodyPr wrap="square" rtlCol="0" anchor="ctr"/>
          <a:lstStyle/>
          <a:p>
            <a:pPr marL="0" indent="0">
              <a:buNone/>
            </a:pPr>
            <a:r>
              <a:rPr lang="en-US" sz="1200" b="1" dirty="0">
                <a:solidFill>
                  <a:srgbClr val="02C39A"/>
                </a:solidFill>
              </a:rPr>
              <a:t>NLP Processing</a:t>
            </a:r>
            <a:endParaRPr lang="en-US" sz="1200" dirty="0"/>
          </a:p>
        </p:txBody>
      </p:sp>
      <p:sp>
        <p:nvSpPr>
          <p:cNvPr id="15" name="Text 13"/>
          <p:cNvSpPr/>
          <p:nvPr/>
        </p:nvSpPr>
        <p:spPr>
          <a:xfrm>
            <a:off x="2139696" y="2286000"/>
            <a:ext cx="1444752" cy="2194560"/>
          </a:xfrm>
          <a:prstGeom prst="rect">
            <a:avLst/>
          </a:prstGeom>
          <a:noFill/>
          <a:ln/>
        </p:spPr>
        <p:txBody>
          <a:bodyPr wrap="square" rtlCol="0" anchor="ctr"/>
          <a:lstStyle/>
          <a:p>
            <a:pPr marL="0" indent="0">
              <a:buNone/>
            </a:pPr>
            <a:r>
              <a:rPr lang="en-US" sz="1000" dirty="0">
                <a:solidFill>
                  <a:srgbClr val="CBD5E1"/>
                </a:solidFill>
              </a:rPr>
              <a:t>TF-IDF vectorisation → XGBoost classifier + AfriBERTa transformer for multilingual sentiment</a:t>
            </a:r>
            <a:endParaRPr lang="en-US" sz="1000" dirty="0"/>
          </a:p>
        </p:txBody>
      </p:sp>
      <p:sp>
        <p:nvSpPr>
          <p:cNvPr id="16" name="Shape 14"/>
          <p:cNvSpPr/>
          <p:nvPr/>
        </p:nvSpPr>
        <p:spPr>
          <a:xfrm>
            <a:off x="3675888" y="2560320"/>
            <a:ext cx="137160" cy="54864"/>
          </a:xfrm>
          <a:prstGeom prst="rect">
            <a:avLst/>
          </a:prstGeom>
          <a:solidFill>
            <a:srgbClr val="00A896"/>
          </a:solidFill>
          <a:ln/>
        </p:spPr>
      </p:sp>
      <p:sp>
        <p:nvSpPr>
          <p:cNvPr id="17" name="Shape 15"/>
          <p:cNvSpPr/>
          <p:nvPr/>
        </p:nvSpPr>
        <p:spPr>
          <a:xfrm>
            <a:off x="3822192" y="1188720"/>
            <a:ext cx="1627632" cy="3200400"/>
          </a:xfrm>
          <a:prstGeom prst="rect">
            <a:avLst/>
          </a:prstGeom>
          <a:solidFill>
            <a:srgbClr val="0A5C6B"/>
          </a:solidFill>
          <a:ln/>
          <a:effectLst>
            <a:outerShdw blurRad="101600" dist="38100" dir="8100000" algn="bl" rotWithShape="0">
              <a:srgbClr val="000000">
                <a:alpha val="12000"/>
              </a:srgbClr>
            </a:outerShdw>
          </a:effectLst>
        </p:spPr>
      </p:sp>
      <p:sp>
        <p:nvSpPr>
          <p:cNvPr id="18" name="Shape 16"/>
          <p:cNvSpPr/>
          <p:nvPr/>
        </p:nvSpPr>
        <p:spPr>
          <a:xfrm>
            <a:off x="3822192" y="1188720"/>
            <a:ext cx="1627632" cy="457200"/>
          </a:xfrm>
          <a:prstGeom prst="rect">
            <a:avLst/>
          </a:prstGeom>
          <a:solidFill>
            <a:srgbClr val="00A896"/>
          </a:solidFill>
          <a:ln/>
        </p:spPr>
      </p:sp>
      <p:sp>
        <p:nvSpPr>
          <p:cNvPr id="19" name="Text 17"/>
          <p:cNvSpPr/>
          <p:nvPr/>
        </p:nvSpPr>
        <p:spPr>
          <a:xfrm>
            <a:off x="3822192" y="1252728"/>
            <a:ext cx="1627632" cy="347472"/>
          </a:xfrm>
          <a:prstGeom prst="rect">
            <a:avLst/>
          </a:prstGeom>
          <a:noFill/>
          <a:ln/>
        </p:spPr>
        <p:txBody>
          <a:bodyPr wrap="square" rtlCol="0" anchor="ctr"/>
          <a:lstStyle/>
          <a:p>
            <a:pPr marL="0" indent="0" algn="ctr">
              <a:buNone/>
            </a:pPr>
            <a:r>
              <a:rPr lang="en-US" sz="1400" b="1" dirty="0">
                <a:solidFill>
                  <a:srgbClr val="FFFFFF"/>
                </a:solidFill>
              </a:rPr>
              <a:t>03</a:t>
            </a:r>
            <a:endParaRPr lang="en-US" sz="1400" dirty="0"/>
          </a:p>
        </p:txBody>
      </p:sp>
      <p:sp>
        <p:nvSpPr>
          <p:cNvPr id="20" name="Text 18"/>
          <p:cNvSpPr/>
          <p:nvPr/>
        </p:nvSpPr>
        <p:spPr>
          <a:xfrm>
            <a:off x="3913632" y="1737360"/>
            <a:ext cx="1444752" cy="502920"/>
          </a:xfrm>
          <a:prstGeom prst="rect">
            <a:avLst/>
          </a:prstGeom>
          <a:noFill/>
          <a:ln/>
        </p:spPr>
        <p:txBody>
          <a:bodyPr wrap="square" rtlCol="0" anchor="ctr"/>
          <a:lstStyle/>
          <a:p>
            <a:pPr marL="0" indent="0">
              <a:buNone/>
            </a:pPr>
            <a:r>
              <a:rPr lang="en-US" sz="1200" b="1" dirty="0">
                <a:solidFill>
                  <a:srgbClr val="02C39A"/>
                </a:solidFill>
              </a:rPr>
              <a:t>Topic Modelling</a:t>
            </a:r>
            <a:endParaRPr lang="en-US" sz="1200" dirty="0"/>
          </a:p>
        </p:txBody>
      </p:sp>
      <p:sp>
        <p:nvSpPr>
          <p:cNvPr id="21" name="Text 19"/>
          <p:cNvSpPr/>
          <p:nvPr/>
        </p:nvSpPr>
        <p:spPr>
          <a:xfrm>
            <a:off x="3913632" y="2286000"/>
            <a:ext cx="1444752" cy="2194560"/>
          </a:xfrm>
          <a:prstGeom prst="rect">
            <a:avLst/>
          </a:prstGeom>
          <a:noFill/>
          <a:ln/>
        </p:spPr>
        <p:txBody>
          <a:bodyPr wrap="square" rtlCol="0" anchor="ctr"/>
          <a:lstStyle/>
          <a:p>
            <a:pPr marL="0" indent="0">
              <a:buNone/>
            </a:pPr>
            <a:r>
              <a:rPr lang="en-US" sz="1000" dirty="0">
                <a:solidFill>
                  <a:srgbClr val="CBD5E1"/>
                </a:solidFill>
              </a:rPr>
              <a:t>LDA identifies complaint clusters:</a:t>
            </a:r>
            <a:endParaRPr lang="en-US" sz="1000" dirty="0"/>
          </a:p>
          <a:p>
            <a:pPr marL="0" indent="0">
              <a:buNone/>
            </a:pPr>
            <a:r>
              <a:rPr lang="en-US" sz="1000" dirty="0">
                <a:solidFill>
                  <a:srgbClr val="CBD5E1"/>
                </a:solidFill>
              </a:rPr>
              <a:t>Transaction failures · App crashes · Customer service</a:t>
            </a:r>
            <a:endParaRPr lang="en-US" sz="1000" dirty="0"/>
          </a:p>
        </p:txBody>
      </p:sp>
      <p:sp>
        <p:nvSpPr>
          <p:cNvPr id="22" name="Shape 20"/>
          <p:cNvSpPr/>
          <p:nvPr/>
        </p:nvSpPr>
        <p:spPr>
          <a:xfrm>
            <a:off x="5449824" y="2560320"/>
            <a:ext cx="137160" cy="54864"/>
          </a:xfrm>
          <a:prstGeom prst="rect">
            <a:avLst/>
          </a:prstGeom>
          <a:solidFill>
            <a:srgbClr val="00A896"/>
          </a:solidFill>
          <a:ln/>
        </p:spPr>
      </p:sp>
      <p:sp>
        <p:nvSpPr>
          <p:cNvPr id="23" name="Shape 21"/>
          <p:cNvSpPr/>
          <p:nvPr/>
        </p:nvSpPr>
        <p:spPr>
          <a:xfrm>
            <a:off x="5596128" y="1188720"/>
            <a:ext cx="1627632" cy="3200400"/>
          </a:xfrm>
          <a:prstGeom prst="rect">
            <a:avLst/>
          </a:prstGeom>
          <a:solidFill>
            <a:srgbClr val="0A5C6B"/>
          </a:solidFill>
          <a:ln/>
          <a:effectLst>
            <a:outerShdw blurRad="101600" dist="38100" dir="8100000" algn="bl" rotWithShape="0">
              <a:srgbClr val="000000">
                <a:alpha val="12000"/>
              </a:srgbClr>
            </a:outerShdw>
          </a:effectLst>
        </p:spPr>
      </p:sp>
      <p:sp>
        <p:nvSpPr>
          <p:cNvPr id="24" name="Shape 22"/>
          <p:cNvSpPr/>
          <p:nvPr/>
        </p:nvSpPr>
        <p:spPr>
          <a:xfrm>
            <a:off x="5596128" y="1188720"/>
            <a:ext cx="1627632" cy="457200"/>
          </a:xfrm>
          <a:prstGeom prst="rect">
            <a:avLst/>
          </a:prstGeom>
          <a:solidFill>
            <a:srgbClr val="00A896"/>
          </a:solidFill>
          <a:ln/>
        </p:spPr>
      </p:sp>
      <p:sp>
        <p:nvSpPr>
          <p:cNvPr id="25" name="Text 23"/>
          <p:cNvSpPr/>
          <p:nvPr/>
        </p:nvSpPr>
        <p:spPr>
          <a:xfrm>
            <a:off x="5596128" y="1252728"/>
            <a:ext cx="1627632" cy="347472"/>
          </a:xfrm>
          <a:prstGeom prst="rect">
            <a:avLst/>
          </a:prstGeom>
          <a:noFill/>
          <a:ln/>
        </p:spPr>
        <p:txBody>
          <a:bodyPr wrap="square" rtlCol="0" anchor="ctr"/>
          <a:lstStyle/>
          <a:p>
            <a:pPr marL="0" indent="0" algn="ctr">
              <a:buNone/>
            </a:pPr>
            <a:r>
              <a:rPr lang="en-US" sz="1400" b="1" dirty="0">
                <a:solidFill>
                  <a:srgbClr val="FFFFFF"/>
                </a:solidFill>
              </a:rPr>
              <a:t>04</a:t>
            </a:r>
            <a:endParaRPr lang="en-US" sz="1400" dirty="0"/>
          </a:p>
        </p:txBody>
      </p:sp>
      <p:sp>
        <p:nvSpPr>
          <p:cNvPr id="26" name="Text 24"/>
          <p:cNvSpPr/>
          <p:nvPr/>
        </p:nvSpPr>
        <p:spPr>
          <a:xfrm>
            <a:off x="5687568" y="1737360"/>
            <a:ext cx="1444752" cy="502920"/>
          </a:xfrm>
          <a:prstGeom prst="rect">
            <a:avLst/>
          </a:prstGeom>
          <a:noFill/>
          <a:ln/>
        </p:spPr>
        <p:txBody>
          <a:bodyPr wrap="square" rtlCol="0" anchor="ctr"/>
          <a:lstStyle/>
          <a:p>
            <a:pPr marL="0" indent="0">
              <a:buNone/>
            </a:pPr>
            <a:r>
              <a:rPr lang="en-US" sz="1200" b="1" dirty="0">
                <a:solidFill>
                  <a:srgbClr val="02C39A"/>
                </a:solidFill>
              </a:rPr>
              <a:t>Distress Scoring</a:t>
            </a:r>
            <a:endParaRPr lang="en-US" sz="1200" dirty="0"/>
          </a:p>
        </p:txBody>
      </p:sp>
      <p:sp>
        <p:nvSpPr>
          <p:cNvPr id="27" name="Text 25"/>
          <p:cNvSpPr/>
          <p:nvPr/>
        </p:nvSpPr>
        <p:spPr>
          <a:xfrm>
            <a:off x="5687568" y="2286000"/>
            <a:ext cx="1444752" cy="2194560"/>
          </a:xfrm>
          <a:prstGeom prst="rect">
            <a:avLst/>
          </a:prstGeom>
          <a:noFill/>
          <a:ln/>
        </p:spPr>
        <p:txBody>
          <a:bodyPr wrap="square" rtlCol="0" anchor="ctr"/>
          <a:lstStyle/>
          <a:p>
            <a:pPr marL="0" indent="0">
              <a:buNone/>
            </a:pPr>
            <a:r>
              <a:rPr lang="en-US" sz="1000" dirty="0">
                <a:solidFill>
                  <a:srgbClr val="CBD5E1"/>
                </a:solidFill>
              </a:rPr>
              <a:t>Financial Distress Index (0-100) combining complaint volume, sentiment shift &amp; trend signals</a:t>
            </a:r>
            <a:endParaRPr lang="en-US" sz="1000" dirty="0"/>
          </a:p>
        </p:txBody>
      </p:sp>
      <p:sp>
        <p:nvSpPr>
          <p:cNvPr id="28" name="Shape 26"/>
          <p:cNvSpPr/>
          <p:nvPr/>
        </p:nvSpPr>
        <p:spPr>
          <a:xfrm>
            <a:off x="7223760" y="2560320"/>
            <a:ext cx="137160" cy="54864"/>
          </a:xfrm>
          <a:prstGeom prst="rect">
            <a:avLst/>
          </a:prstGeom>
          <a:solidFill>
            <a:srgbClr val="00A896"/>
          </a:solidFill>
          <a:ln/>
        </p:spPr>
      </p:sp>
      <p:sp>
        <p:nvSpPr>
          <p:cNvPr id="29" name="Shape 27"/>
          <p:cNvSpPr/>
          <p:nvPr/>
        </p:nvSpPr>
        <p:spPr>
          <a:xfrm>
            <a:off x="7370064" y="1188720"/>
            <a:ext cx="1627632" cy="3200400"/>
          </a:xfrm>
          <a:prstGeom prst="rect">
            <a:avLst/>
          </a:prstGeom>
          <a:solidFill>
            <a:srgbClr val="0A5C6B"/>
          </a:solidFill>
          <a:ln/>
          <a:effectLst>
            <a:outerShdw blurRad="101600" dist="38100" dir="8100000" algn="bl" rotWithShape="0">
              <a:srgbClr val="000000">
                <a:alpha val="12000"/>
              </a:srgbClr>
            </a:outerShdw>
          </a:effectLst>
        </p:spPr>
      </p:sp>
      <p:sp>
        <p:nvSpPr>
          <p:cNvPr id="30" name="Shape 28"/>
          <p:cNvSpPr/>
          <p:nvPr/>
        </p:nvSpPr>
        <p:spPr>
          <a:xfrm>
            <a:off x="7370064" y="1188720"/>
            <a:ext cx="1627632" cy="457200"/>
          </a:xfrm>
          <a:prstGeom prst="rect">
            <a:avLst/>
          </a:prstGeom>
          <a:solidFill>
            <a:srgbClr val="00A896"/>
          </a:solidFill>
          <a:ln/>
        </p:spPr>
      </p:sp>
      <p:sp>
        <p:nvSpPr>
          <p:cNvPr id="31" name="Text 29"/>
          <p:cNvSpPr/>
          <p:nvPr/>
        </p:nvSpPr>
        <p:spPr>
          <a:xfrm>
            <a:off x="7370064" y="1252728"/>
            <a:ext cx="1627632" cy="347472"/>
          </a:xfrm>
          <a:prstGeom prst="rect">
            <a:avLst/>
          </a:prstGeom>
          <a:noFill/>
          <a:ln/>
        </p:spPr>
        <p:txBody>
          <a:bodyPr wrap="square" rtlCol="0" anchor="ctr"/>
          <a:lstStyle/>
          <a:p>
            <a:pPr marL="0" indent="0" algn="ctr">
              <a:buNone/>
            </a:pPr>
            <a:r>
              <a:rPr lang="en-US" sz="1400" b="1" dirty="0">
                <a:solidFill>
                  <a:srgbClr val="FFFFFF"/>
                </a:solidFill>
              </a:rPr>
              <a:t>05</a:t>
            </a:r>
            <a:endParaRPr lang="en-US" sz="1400" dirty="0"/>
          </a:p>
        </p:txBody>
      </p:sp>
      <p:sp>
        <p:nvSpPr>
          <p:cNvPr id="32" name="Text 30"/>
          <p:cNvSpPr/>
          <p:nvPr/>
        </p:nvSpPr>
        <p:spPr>
          <a:xfrm>
            <a:off x="7461504" y="1737360"/>
            <a:ext cx="1444752" cy="502920"/>
          </a:xfrm>
          <a:prstGeom prst="rect">
            <a:avLst/>
          </a:prstGeom>
          <a:noFill/>
          <a:ln/>
        </p:spPr>
        <p:txBody>
          <a:bodyPr wrap="square" rtlCol="0" anchor="ctr"/>
          <a:lstStyle/>
          <a:p>
            <a:pPr marL="0" indent="0">
              <a:buNone/>
            </a:pPr>
            <a:r>
              <a:rPr lang="en-US" sz="1200" b="1" dirty="0">
                <a:solidFill>
                  <a:srgbClr val="02C39A"/>
                </a:solidFill>
              </a:rPr>
              <a:t>Alerting &amp; Dashboards</a:t>
            </a:r>
            <a:endParaRPr lang="en-US" sz="1200" dirty="0"/>
          </a:p>
        </p:txBody>
      </p:sp>
      <p:sp>
        <p:nvSpPr>
          <p:cNvPr id="33" name="Text 31"/>
          <p:cNvSpPr/>
          <p:nvPr/>
        </p:nvSpPr>
        <p:spPr>
          <a:xfrm>
            <a:off x="7461504" y="2286000"/>
            <a:ext cx="1444752" cy="2194560"/>
          </a:xfrm>
          <a:prstGeom prst="rect">
            <a:avLst/>
          </a:prstGeom>
          <a:noFill/>
          <a:ln/>
        </p:spPr>
        <p:txBody>
          <a:bodyPr wrap="square" rtlCol="0" anchor="ctr"/>
          <a:lstStyle/>
          <a:p>
            <a:pPr marL="0" indent="0">
              <a:buNone/>
            </a:pPr>
            <a:r>
              <a:rPr lang="en-US" sz="1000" dirty="0">
                <a:solidFill>
                  <a:srgbClr val="CBD5E1"/>
                </a:solidFill>
              </a:rPr>
              <a:t>Real-time Streamlit app + Tableau dashboards for regulators &amp; fintech ops teams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137"/>
          </a:solidFill>
          <a:ln/>
        </p:spPr>
      </p:sp>
      <p:sp>
        <p:nvSpPr>
          <p:cNvPr id="3" name="Text 1"/>
          <p:cNvSpPr/>
          <p:nvPr/>
        </p:nvSpPr>
        <p:spPr>
          <a:xfrm>
            <a:off x="365760" y="0"/>
            <a:ext cx="8229600" cy="502920"/>
          </a:xfrm>
          <a:prstGeom prst="rect">
            <a:avLst/>
          </a:prstGeom>
          <a:noFill/>
          <a:ln/>
        </p:spPr>
        <p:txBody>
          <a:bodyPr wrap="square" rtlCol="0" anchor="ctr"/>
          <a:lstStyle/>
          <a:p>
            <a:pPr marL="0" indent="0">
              <a:buNone/>
            </a:pPr>
            <a:r>
              <a:rPr lang="en-US" sz="1100" b="1" kern="0" spc="300" dirty="0">
                <a:solidFill>
                  <a:srgbClr val="02C39A"/>
                </a:solidFill>
              </a:rPr>
              <a:t>KEY DATA FINDINGS</a:t>
            </a:r>
            <a:endParaRPr lang="en-US" sz="1100" dirty="0"/>
          </a:p>
        </p:txBody>
      </p:sp>
      <p:sp>
        <p:nvSpPr>
          <p:cNvPr id="4" name="Text 2"/>
          <p:cNvSpPr/>
          <p:nvPr/>
        </p:nvSpPr>
        <p:spPr>
          <a:xfrm>
            <a:off x="365760" y="475488"/>
            <a:ext cx="8229600" cy="50292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What 50,000 Customer Reviews Reveal</a:t>
            </a:r>
            <a:endParaRPr lang="en-US" sz="2000" dirty="0"/>
          </a:p>
        </p:txBody>
      </p:sp>
      <p:sp>
        <p:nvSpPr>
          <p:cNvPr id="5" name="Text 3"/>
          <p:cNvSpPr/>
          <p:nvPr/>
        </p:nvSpPr>
        <p:spPr>
          <a:xfrm>
            <a:off x="365760" y="1097280"/>
            <a:ext cx="4114800" cy="365760"/>
          </a:xfrm>
          <a:prstGeom prst="rect">
            <a:avLst/>
          </a:prstGeom>
          <a:noFill/>
          <a:ln/>
        </p:spPr>
        <p:txBody>
          <a:bodyPr wrap="square" rtlCol="0" anchor="ctr"/>
          <a:lstStyle/>
          <a:p>
            <a:pPr marL="0" indent="0">
              <a:buNone/>
            </a:pPr>
            <a:r>
              <a:rPr lang="en-US" sz="1400" b="1" dirty="0">
                <a:solidFill>
                  <a:srgbClr val="0D2137"/>
                </a:solidFill>
              </a:rPr>
              <a:t>Top Complaint Categories</a:t>
            </a:r>
            <a:endParaRPr lang="en-US" sz="1400" dirty="0"/>
          </a:p>
        </p:txBody>
      </p:sp>
      <p:sp>
        <p:nvSpPr>
          <p:cNvPr id="6" name="Text 4"/>
          <p:cNvSpPr/>
          <p:nvPr/>
        </p:nvSpPr>
        <p:spPr>
          <a:xfrm>
            <a:off x="365760" y="1600200"/>
            <a:ext cx="2377440" cy="320040"/>
          </a:xfrm>
          <a:prstGeom prst="rect">
            <a:avLst/>
          </a:prstGeom>
          <a:noFill/>
          <a:ln/>
        </p:spPr>
        <p:txBody>
          <a:bodyPr wrap="square" rtlCol="0" anchor="ctr"/>
          <a:lstStyle/>
          <a:p>
            <a:pPr marL="0" indent="0">
              <a:buNone/>
            </a:pPr>
            <a:r>
              <a:rPr lang="en-US" sz="1100" dirty="0">
                <a:solidFill>
                  <a:srgbClr val="334155"/>
                </a:solidFill>
              </a:rPr>
              <a:t>Transaction Failures</a:t>
            </a:r>
            <a:endParaRPr lang="en-US" sz="1100" dirty="0"/>
          </a:p>
        </p:txBody>
      </p:sp>
      <p:sp>
        <p:nvSpPr>
          <p:cNvPr id="7" name="Shape 5"/>
          <p:cNvSpPr/>
          <p:nvPr/>
        </p:nvSpPr>
        <p:spPr>
          <a:xfrm>
            <a:off x="2834640" y="1636776"/>
            <a:ext cx="2926080" cy="228600"/>
          </a:xfrm>
          <a:prstGeom prst="rect">
            <a:avLst/>
          </a:prstGeom>
          <a:solidFill>
            <a:srgbClr val="CBD5E1">
              <a:alpha val="40000"/>
            </a:srgbClr>
          </a:solidFill>
          <a:ln/>
        </p:spPr>
      </p:sp>
      <p:sp>
        <p:nvSpPr>
          <p:cNvPr id="8" name="Shape 6"/>
          <p:cNvSpPr/>
          <p:nvPr/>
        </p:nvSpPr>
        <p:spPr>
          <a:xfrm>
            <a:off x="2834640" y="1636776"/>
            <a:ext cx="819302" cy="228600"/>
          </a:xfrm>
          <a:prstGeom prst="rect">
            <a:avLst/>
          </a:prstGeom>
          <a:solidFill>
            <a:srgbClr val="EF4444"/>
          </a:solidFill>
          <a:ln/>
        </p:spPr>
      </p:sp>
      <p:sp>
        <p:nvSpPr>
          <p:cNvPr id="9" name="Text 7"/>
          <p:cNvSpPr/>
          <p:nvPr/>
        </p:nvSpPr>
        <p:spPr>
          <a:xfrm>
            <a:off x="5852160" y="1600200"/>
            <a:ext cx="548640" cy="320040"/>
          </a:xfrm>
          <a:prstGeom prst="rect">
            <a:avLst/>
          </a:prstGeom>
          <a:noFill/>
          <a:ln/>
        </p:spPr>
        <p:txBody>
          <a:bodyPr wrap="square" rtlCol="0" anchor="ctr"/>
          <a:lstStyle/>
          <a:p>
            <a:pPr marL="0" indent="0">
              <a:buNone/>
            </a:pPr>
            <a:r>
              <a:rPr lang="en-US" sz="1100" b="1" dirty="0">
                <a:solidFill>
                  <a:srgbClr val="0D2137"/>
                </a:solidFill>
              </a:rPr>
              <a:t>28%</a:t>
            </a:r>
            <a:endParaRPr lang="en-US" sz="1100" dirty="0"/>
          </a:p>
        </p:txBody>
      </p:sp>
      <p:sp>
        <p:nvSpPr>
          <p:cNvPr id="10" name="Text 8"/>
          <p:cNvSpPr/>
          <p:nvPr/>
        </p:nvSpPr>
        <p:spPr>
          <a:xfrm>
            <a:off x="365760" y="2167128"/>
            <a:ext cx="2377440" cy="320040"/>
          </a:xfrm>
          <a:prstGeom prst="rect">
            <a:avLst/>
          </a:prstGeom>
          <a:noFill/>
          <a:ln/>
        </p:spPr>
        <p:txBody>
          <a:bodyPr wrap="square" rtlCol="0" anchor="ctr"/>
          <a:lstStyle/>
          <a:p>
            <a:pPr marL="0" indent="0">
              <a:buNone/>
            </a:pPr>
            <a:r>
              <a:rPr lang="en-US" sz="1100" dirty="0">
                <a:solidFill>
                  <a:srgbClr val="334155"/>
                </a:solidFill>
              </a:rPr>
              <a:t>App Stability Issues</a:t>
            </a:r>
            <a:endParaRPr lang="en-US" sz="1100" dirty="0"/>
          </a:p>
        </p:txBody>
      </p:sp>
      <p:sp>
        <p:nvSpPr>
          <p:cNvPr id="11" name="Shape 9"/>
          <p:cNvSpPr/>
          <p:nvPr/>
        </p:nvSpPr>
        <p:spPr>
          <a:xfrm>
            <a:off x="2834640" y="2203704"/>
            <a:ext cx="2926080" cy="228600"/>
          </a:xfrm>
          <a:prstGeom prst="rect">
            <a:avLst/>
          </a:prstGeom>
          <a:solidFill>
            <a:srgbClr val="CBD5E1">
              <a:alpha val="40000"/>
            </a:srgbClr>
          </a:solidFill>
          <a:ln/>
        </p:spPr>
      </p:sp>
      <p:sp>
        <p:nvSpPr>
          <p:cNvPr id="12" name="Shape 10"/>
          <p:cNvSpPr/>
          <p:nvPr/>
        </p:nvSpPr>
        <p:spPr>
          <a:xfrm>
            <a:off x="2834640" y="2203704"/>
            <a:ext cx="702259" cy="228600"/>
          </a:xfrm>
          <a:prstGeom prst="rect">
            <a:avLst/>
          </a:prstGeom>
          <a:solidFill>
            <a:srgbClr val="F59E0B"/>
          </a:solidFill>
          <a:ln/>
        </p:spPr>
      </p:sp>
      <p:sp>
        <p:nvSpPr>
          <p:cNvPr id="13" name="Text 11"/>
          <p:cNvSpPr/>
          <p:nvPr/>
        </p:nvSpPr>
        <p:spPr>
          <a:xfrm>
            <a:off x="5852160" y="2167128"/>
            <a:ext cx="548640" cy="320040"/>
          </a:xfrm>
          <a:prstGeom prst="rect">
            <a:avLst/>
          </a:prstGeom>
          <a:noFill/>
          <a:ln/>
        </p:spPr>
        <p:txBody>
          <a:bodyPr wrap="square" rtlCol="0" anchor="ctr"/>
          <a:lstStyle/>
          <a:p>
            <a:pPr marL="0" indent="0">
              <a:buNone/>
            </a:pPr>
            <a:r>
              <a:rPr lang="en-US" sz="1100" b="1" dirty="0">
                <a:solidFill>
                  <a:srgbClr val="0D2137"/>
                </a:solidFill>
              </a:rPr>
              <a:t>24%</a:t>
            </a:r>
            <a:endParaRPr lang="en-US" sz="1100" dirty="0"/>
          </a:p>
        </p:txBody>
      </p:sp>
      <p:sp>
        <p:nvSpPr>
          <p:cNvPr id="14" name="Text 12"/>
          <p:cNvSpPr/>
          <p:nvPr/>
        </p:nvSpPr>
        <p:spPr>
          <a:xfrm>
            <a:off x="365760" y="2734056"/>
            <a:ext cx="2377440" cy="320040"/>
          </a:xfrm>
          <a:prstGeom prst="rect">
            <a:avLst/>
          </a:prstGeom>
          <a:noFill/>
          <a:ln/>
        </p:spPr>
        <p:txBody>
          <a:bodyPr wrap="square" rtlCol="0" anchor="ctr"/>
          <a:lstStyle/>
          <a:p>
            <a:pPr marL="0" indent="0">
              <a:buNone/>
            </a:pPr>
            <a:r>
              <a:rPr lang="en-US" sz="1100" dirty="0">
                <a:solidFill>
                  <a:srgbClr val="334155"/>
                </a:solidFill>
              </a:rPr>
              <a:t>Account Access / OTP</a:t>
            </a:r>
            <a:endParaRPr lang="en-US" sz="1100" dirty="0"/>
          </a:p>
        </p:txBody>
      </p:sp>
      <p:sp>
        <p:nvSpPr>
          <p:cNvPr id="15" name="Shape 13"/>
          <p:cNvSpPr/>
          <p:nvPr/>
        </p:nvSpPr>
        <p:spPr>
          <a:xfrm>
            <a:off x="2834640" y="2770632"/>
            <a:ext cx="2926080" cy="228600"/>
          </a:xfrm>
          <a:prstGeom prst="rect">
            <a:avLst/>
          </a:prstGeom>
          <a:solidFill>
            <a:srgbClr val="CBD5E1">
              <a:alpha val="40000"/>
            </a:srgbClr>
          </a:solidFill>
          <a:ln/>
        </p:spPr>
      </p:sp>
      <p:sp>
        <p:nvSpPr>
          <p:cNvPr id="16" name="Shape 14"/>
          <p:cNvSpPr/>
          <p:nvPr/>
        </p:nvSpPr>
        <p:spPr>
          <a:xfrm>
            <a:off x="2834640" y="2770632"/>
            <a:ext cx="351130" cy="228600"/>
          </a:xfrm>
          <a:prstGeom prst="rect">
            <a:avLst/>
          </a:prstGeom>
          <a:solidFill>
            <a:srgbClr val="0A5C6B"/>
          </a:solidFill>
          <a:ln/>
        </p:spPr>
      </p:sp>
      <p:sp>
        <p:nvSpPr>
          <p:cNvPr id="17" name="Text 15"/>
          <p:cNvSpPr/>
          <p:nvPr/>
        </p:nvSpPr>
        <p:spPr>
          <a:xfrm>
            <a:off x="5852160" y="2734056"/>
            <a:ext cx="548640" cy="320040"/>
          </a:xfrm>
          <a:prstGeom prst="rect">
            <a:avLst/>
          </a:prstGeom>
          <a:noFill/>
          <a:ln/>
        </p:spPr>
        <p:txBody>
          <a:bodyPr wrap="square" rtlCol="0" anchor="ctr"/>
          <a:lstStyle/>
          <a:p>
            <a:pPr marL="0" indent="0">
              <a:buNone/>
            </a:pPr>
            <a:r>
              <a:rPr lang="en-US" sz="1100" b="1" dirty="0">
                <a:solidFill>
                  <a:srgbClr val="0D2137"/>
                </a:solidFill>
              </a:rPr>
              <a:t>12%</a:t>
            </a:r>
            <a:endParaRPr lang="en-US" sz="1100" dirty="0"/>
          </a:p>
        </p:txBody>
      </p:sp>
      <p:sp>
        <p:nvSpPr>
          <p:cNvPr id="18" name="Text 16"/>
          <p:cNvSpPr/>
          <p:nvPr/>
        </p:nvSpPr>
        <p:spPr>
          <a:xfrm>
            <a:off x="365760" y="3300984"/>
            <a:ext cx="2377440" cy="320040"/>
          </a:xfrm>
          <a:prstGeom prst="rect">
            <a:avLst/>
          </a:prstGeom>
          <a:noFill/>
          <a:ln/>
        </p:spPr>
        <p:txBody>
          <a:bodyPr wrap="square" rtlCol="0" anchor="ctr"/>
          <a:lstStyle/>
          <a:p>
            <a:pPr marL="0" indent="0">
              <a:buNone/>
            </a:pPr>
            <a:r>
              <a:rPr lang="en-US" sz="1100" dirty="0">
                <a:solidFill>
                  <a:srgbClr val="334155"/>
                </a:solidFill>
              </a:rPr>
              <a:t>Customer Service</a:t>
            </a:r>
            <a:endParaRPr lang="en-US" sz="1100" dirty="0"/>
          </a:p>
        </p:txBody>
      </p:sp>
      <p:sp>
        <p:nvSpPr>
          <p:cNvPr id="19" name="Shape 17"/>
          <p:cNvSpPr/>
          <p:nvPr/>
        </p:nvSpPr>
        <p:spPr>
          <a:xfrm>
            <a:off x="2834640" y="3337560"/>
            <a:ext cx="2926080" cy="228600"/>
          </a:xfrm>
          <a:prstGeom prst="rect">
            <a:avLst/>
          </a:prstGeom>
          <a:solidFill>
            <a:srgbClr val="CBD5E1">
              <a:alpha val="40000"/>
            </a:srgbClr>
          </a:solidFill>
          <a:ln/>
        </p:spPr>
      </p:sp>
      <p:sp>
        <p:nvSpPr>
          <p:cNvPr id="20" name="Shape 18"/>
          <p:cNvSpPr/>
          <p:nvPr/>
        </p:nvSpPr>
        <p:spPr>
          <a:xfrm>
            <a:off x="2834640" y="3337560"/>
            <a:ext cx="526694" cy="228600"/>
          </a:xfrm>
          <a:prstGeom prst="rect">
            <a:avLst/>
          </a:prstGeom>
          <a:solidFill>
            <a:srgbClr val="00A896"/>
          </a:solidFill>
          <a:ln/>
        </p:spPr>
      </p:sp>
      <p:sp>
        <p:nvSpPr>
          <p:cNvPr id="21" name="Text 19"/>
          <p:cNvSpPr/>
          <p:nvPr/>
        </p:nvSpPr>
        <p:spPr>
          <a:xfrm>
            <a:off x="5852160" y="3300984"/>
            <a:ext cx="548640" cy="320040"/>
          </a:xfrm>
          <a:prstGeom prst="rect">
            <a:avLst/>
          </a:prstGeom>
          <a:noFill/>
          <a:ln/>
        </p:spPr>
        <p:txBody>
          <a:bodyPr wrap="square" rtlCol="0" anchor="ctr"/>
          <a:lstStyle/>
          <a:p>
            <a:pPr marL="0" indent="0">
              <a:buNone/>
            </a:pPr>
            <a:r>
              <a:rPr lang="en-US" sz="1100" b="1" dirty="0">
                <a:solidFill>
                  <a:srgbClr val="0D2137"/>
                </a:solidFill>
              </a:rPr>
              <a:t>18%</a:t>
            </a:r>
            <a:endParaRPr lang="en-US" sz="1100" dirty="0"/>
          </a:p>
        </p:txBody>
      </p:sp>
      <p:sp>
        <p:nvSpPr>
          <p:cNvPr id="22" name="Text 20"/>
          <p:cNvSpPr/>
          <p:nvPr/>
        </p:nvSpPr>
        <p:spPr>
          <a:xfrm>
            <a:off x="365760" y="3867912"/>
            <a:ext cx="2377440" cy="320040"/>
          </a:xfrm>
          <a:prstGeom prst="rect">
            <a:avLst/>
          </a:prstGeom>
          <a:noFill/>
          <a:ln/>
        </p:spPr>
        <p:txBody>
          <a:bodyPr wrap="square" rtlCol="0" anchor="ctr"/>
          <a:lstStyle/>
          <a:p>
            <a:pPr marL="0" indent="0">
              <a:buNone/>
            </a:pPr>
            <a:r>
              <a:rPr lang="en-US" sz="1100" dirty="0">
                <a:solidFill>
                  <a:srgbClr val="334155"/>
                </a:solidFill>
              </a:rPr>
              <a:t>Other</a:t>
            </a:r>
            <a:endParaRPr lang="en-US" sz="1100" dirty="0"/>
          </a:p>
        </p:txBody>
      </p:sp>
      <p:sp>
        <p:nvSpPr>
          <p:cNvPr id="23" name="Shape 21"/>
          <p:cNvSpPr/>
          <p:nvPr/>
        </p:nvSpPr>
        <p:spPr>
          <a:xfrm>
            <a:off x="2834640" y="3904488"/>
            <a:ext cx="2926080" cy="228600"/>
          </a:xfrm>
          <a:prstGeom prst="rect">
            <a:avLst/>
          </a:prstGeom>
          <a:solidFill>
            <a:srgbClr val="CBD5E1">
              <a:alpha val="40000"/>
            </a:srgbClr>
          </a:solidFill>
          <a:ln/>
        </p:spPr>
      </p:sp>
      <p:sp>
        <p:nvSpPr>
          <p:cNvPr id="24" name="Shape 22"/>
          <p:cNvSpPr/>
          <p:nvPr/>
        </p:nvSpPr>
        <p:spPr>
          <a:xfrm>
            <a:off x="2834640" y="3904488"/>
            <a:ext cx="526694" cy="228600"/>
          </a:xfrm>
          <a:prstGeom prst="rect">
            <a:avLst/>
          </a:prstGeom>
          <a:solidFill>
            <a:srgbClr val="CBD5E1"/>
          </a:solidFill>
          <a:ln/>
        </p:spPr>
      </p:sp>
      <p:sp>
        <p:nvSpPr>
          <p:cNvPr id="25" name="Text 23"/>
          <p:cNvSpPr/>
          <p:nvPr/>
        </p:nvSpPr>
        <p:spPr>
          <a:xfrm>
            <a:off x="5852160" y="3867912"/>
            <a:ext cx="548640" cy="320040"/>
          </a:xfrm>
          <a:prstGeom prst="rect">
            <a:avLst/>
          </a:prstGeom>
          <a:noFill/>
          <a:ln/>
        </p:spPr>
        <p:txBody>
          <a:bodyPr wrap="square" rtlCol="0" anchor="ctr"/>
          <a:lstStyle/>
          <a:p>
            <a:pPr marL="0" indent="0">
              <a:buNone/>
            </a:pPr>
            <a:r>
              <a:rPr lang="en-US" sz="1100" b="1" dirty="0">
                <a:solidFill>
                  <a:srgbClr val="0D2137"/>
                </a:solidFill>
              </a:rPr>
              <a:t>18%</a:t>
            </a:r>
            <a:endParaRPr lang="en-US" sz="1100" dirty="0"/>
          </a:p>
        </p:txBody>
      </p:sp>
      <p:sp>
        <p:nvSpPr>
          <p:cNvPr id="26" name="Text 24"/>
          <p:cNvSpPr/>
          <p:nvPr/>
        </p:nvSpPr>
        <p:spPr>
          <a:xfrm>
            <a:off x="6217920" y="1097280"/>
            <a:ext cx="2743200" cy="365760"/>
          </a:xfrm>
          <a:prstGeom prst="rect">
            <a:avLst/>
          </a:prstGeom>
          <a:noFill/>
          <a:ln/>
        </p:spPr>
        <p:txBody>
          <a:bodyPr wrap="square" rtlCol="0" anchor="ctr"/>
          <a:lstStyle/>
          <a:p>
            <a:pPr marL="0" indent="0">
              <a:buNone/>
            </a:pPr>
            <a:r>
              <a:rPr lang="en-US" sz="1400" b="1" dirty="0">
                <a:solidFill>
                  <a:srgbClr val="0D2137"/>
                </a:solidFill>
              </a:rPr>
              <a:t>Platform-Level Risks</a:t>
            </a:r>
            <a:endParaRPr lang="en-US" sz="1400" dirty="0"/>
          </a:p>
        </p:txBody>
      </p:sp>
      <p:sp>
        <p:nvSpPr>
          <p:cNvPr id="27" name="Shape 25"/>
          <p:cNvSpPr/>
          <p:nvPr/>
        </p:nvSpPr>
        <p:spPr>
          <a:xfrm>
            <a:off x="6217920" y="1554480"/>
            <a:ext cx="2606040" cy="685800"/>
          </a:xfrm>
          <a:prstGeom prst="rect">
            <a:avLst/>
          </a:prstGeom>
          <a:solidFill>
            <a:srgbClr val="FFFFFF"/>
          </a:solidFill>
          <a:ln/>
          <a:effectLst>
            <a:outerShdw blurRad="101600" dist="38100" dir="8100000" algn="bl" rotWithShape="0">
              <a:srgbClr val="000000">
                <a:alpha val="12000"/>
              </a:srgbClr>
            </a:outerShdw>
          </a:effectLst>
        </p:spPr>
      </p:sp>
      <p:sp>
        <p:nvSpPr>
          <p:cNvPr id="28" name="Shape 26"/>
          <p:cNvSpPr/>
          <p:nvPr/>
        </p:nvSpPr>
        <p:spPr>
          <a:xfrm>
            <a:off x="6217920" y="1554480"/>
            <a:ext cx="64008" cy="685800"/>
          </a:xfrm>
          <a:prstGeom prst="rect">
            <a:avLst/>
          </a:prstGeom>
          <a:solidFill>
            <a:srgbClr val="00A896"/>
          </a:solidFill>
          <a:ln/>
        </p:spPr>
      </p:sp>
      <p:sp>
        <p:nvSpPr>
          <p:cNvPr id="29" name="Text 27"/>
          <p:cNvSpPr/>
          <p:nvPr/>
        </p:nvSpPr>
        <p:spPr>
          <a:xfrm>
            <a:off x="6400800" y="1591056"/>
            <a:ext cx="2331720" cy="256032"/>
          </a:xfrm>
          <a:prstGeom prst="rect">
            <a:avLst/>
          </a:prstGeom>
          <a:noFill/>
          <a:ln/>
        </p:spPr>
        <p:txBody>
          <a:bodyPr wrap="square" rtlCol="0" anchor="ctr"/>
          <a:lstStyle/>
          <a:p>
            <a:pPr marL="0" indent="0">
              <a:buNone/>
            </a:pPr>
            <a:r>
              <a:rPr lang="en-US" sz="1100" b="1" dirty="0">
                <a:solidFill>
                  <a:srgbClr val="0D2137"/>
                </a:solidFill>
              </a:rPr>
              <a:t>M-Pesa</a:t>
            </a:r>
            <a:endParaRPr lang="en-US" sz="1100" dirty="0"/>
          </a:p>
        </p:txBody>
      </p:sp>
      <p:sp>
        <p:nvSpPr>
          <p:cNvPr id="30" name="Text 28"/>
          <p:cNvSpPr/>
          <p:nvPr/>
        </p:nvSpPr>
        <p:spPr>
          <a:xfrm>
            <a:off x="6400800" y="1865376"/>
            <a:ext cx="2331720" cy="329184"/>
          </a:xfrm>
          <a:prstGeom prst="rect">
            <a:avLst/>
          </a:prstGeom>
          <a:noFill/>
          <a:ln/>
        </p:spPr>
        <p:txBody>
          <a:bodyPr wrap="square" rtlCol="0" anchor="ctr"/>
          <a:lstStyle/>
          <a:p>
            <a:pPr marL="0" indent="0">
              <a:buNone/>
            </a:pPr>
            <a:r>
              <a:rPr lang="en-US" sz="900" dirty="0">
                <a:solidFill>
                  <a:srgbClr val="334155"/>
                </a:solidFill>
              </a:rPr>
              <a:t>Highest concentration of login &amp; transaction delay complaints — affecting 45M users</a:t>
            </a:r>
            <a:endParaRPr lang="en-US" sz="900" dirty="0"/>
          </a:p>
        </p:txBody>
      </p:sp>
      <p:sp>
        <p:nvSpPr>
          <p:cNvPr id="31" name="Shape 29"/>
          <p:cNvSpPr/>
          <p:nvPr/>
        </p:nvSpPr>
        <p:spPr>
          <a:xfrm>
            <a:off x="6217920" y="2350008"/>
            <a:ext cx="2606040" cy="685800"/>
          </a:xfrm>
          <a:prstGeom prst="rect">
            <a:avLst/>
          </a:prstGeom>
          <a:solidFill>
            <a:srgbClr val="FFFFFF"/>
          </a:solidFill>
          <a:ln/>
          <a:effectLst>
            <a:outerShdw blurRad="101600" dist="38100" dir="8100000" algn="bl" rotWithShape="0">
              <a:srgbClr val="000000">
                <a:alpha val="12000"/>
              </a:srgbClr>
            </a:outerShdw>
          </a:effectLst>
        </p:spPr>
      </p:sp>
      <p:sp>
        <p:nvSpPr>
          <p:cNvPr id="32" name="Shape 30"/>
          <p:cNvSpPr/>
          <p:nvPr/>
        </p:nvSpPr>
        <p:spPr>
          <a:xfrm>
            <a:off x="6217920" y="2350008"/>
            <a:ext cx="64008" cy="685800"/>
          </a:xfrm>
          <a:prstGeom prst="rect">
            <a:avLst/>
          </a:prstGeom>
          <a:solidFill>
            <a:srgbClr val="00A896"/>
          </a:solidFill>
          <a:ln/>
        </p:spPr>
      </p:sp>
      <p:sp>
        <p:nvSpPr>
          <p:cNvPr id="33" name="Text 31"/>
          <p:cNvSpPr/>
          <p:nvPr/>
        </p:nvSpPr>
        <p:spPr>
          <a:xfrm>
            <a:off x="6400800" y="2386584"/>
            <a:ext cx="2331720" cy="256032"/>
          </a:xfrm>
          <a:prstGeom prst="rect">
            <a:avLst/>
          </a:prstGeom>
          <a:noFill/>
          <a:ln/>
        </p:spPr>
        <p:txBody>
          <a:bodyPr wrap="square" rtlCol="0" anchor="ctr"/>
          <a:lstStyle/>
          <a:p>
            <a:pPr marL="0" indent="0">
              <a:buNone/>
            </a:pPr>
            <a:r>
              <a:rPr lang="en-US" sz="1100" b="1" dirty="0">
                <a:solidFill>
                  <a:srgbClr val="0D2137"/>
                </a:solidFill>
              </a:rPr>
              <a:t>Fraud Signals</a:t>
            </a:r>
            <a:endParaRPr lang="en-US" sz="1100" dirty="0"/>
          </a:p>
        </p:txBody>
      </p:sp>
      <p:sp>
        <p:nvSpPr>
          <p:cNvPr id="34" name="Text 32"/>
          <p:cNvSpPr/>
          <p:nvPr/>
        </p:nvSpPr>
        <p:spPr>
          <a:xfrm>
            <a:off x="6400800" y="2660904"/>
            <a:ext cx="2331720" cy="329184"/>
          </a:xfrm>
          <a:prstGeom prst="rect">
            <a:avLst/>
          </a:prstGeom>
          <a:noFill/>
          <a:ln/>
        </p:spPr>
        <p:txBody>
          <a:bodyPr wrap="square" rtlCol="0" anchor="ctr"/>
          <a:lstStyle/>
          <a:p>
            <a:pPr marL="0" indent="0">
              <a:buNone/>
            </a:pPr>
            <a:r>
              <a:rPr lang="en-US" sz="900" dirty="0">
                <a:solidFill>
                  <a:srgbClr val="334155"/>
                </a:solidFill>
              </a:rPr>
              <a:t>Security &amp; account-access issues are top drivers across ALL platforms</a:t>
            </a:r>
            <a:endParaRPr lang="en-US" sz="900" dirty="0"/>
          </a:p>
        </p:txBody>
      </p:sp>
      <p:sp>
        <p:nvSpPr>
          <p:cNvPr id="35" name="Shape 33"/>
          <p:cNvSpPr/>
          <p:nvPr/>
        </p:nvSpPr>
        <p:spPr>
          <a:xfrm>
            <a:off x="6217920" y="3145536"/>
            <a:ext cx="2606040" cy="685800"/>
          </a:xfrm>
          <a:prstGeom prst="rect">
            <a:avLst/>
          </a:prstGeom>
          <a:solidFill>
            <a:srgbClr val="FFFFFF"/>
          </a:solidFill>
          <a:ln/>
          <a:effectLst>
            <a:outerShdw blurRad="101600" dist="38100" dir="8100000" algn="bl" rotWithShape="0">
              <a:srgbClr val="000000">
                <a:alpha val="12000"/>
              </a:srgbClr>
            </a:outerShdw>
          </a:effectLst>
        </p:spPr>
      </p:sp>
      <p:sp>
        <p:nvSpPr>
          <p:cNvPr id="36" name="Shape 34"/>
          <p:cNvSpPr/>
          <p:nvPr/>
        </p:nvSpPr>
        <p:spPr>
          <a:xfrm>
            <a:off x="6217920" y="3145536"/>
            <a:ext cx="64008" cy="685800"/>
          </a:xfrm>
          <a:prstGeom prst="rect">
            <a:avLst/>
          </a:prstGeom>
          <a:solidFill>
            <a:srgbClr val="00A896"/>
          </a:solidFill>
          <a:ln/>
        </p:spPr>
      </p:sp>
      <p:sp>
        <p:nvSpPr>
          <p:cNvPr id="37" name="Text 35"/>
          <p:cNvSpPr/>
          <p:nvPr/>
        </p:nvSpPr>
        <p:spPr>
          <a:xfrm>
            <a:off x="6400800" y="3182112"/>
            <a:ext cx="2331720" cy="256032"/>
          </a:xfrm>
          <a:prstGeom prst="rect">
            <a:avLst/>
          </a:prstGeom>
          <a:noFill/>
          <a:ln/>
        </p:spPr>
        <p:txBody>
          <a:bodyPr wrap="square" rtlCol="0" anchor="ctr"/>
          <a:lstStyle/>
          <a:p>
            <a:pPr marL="0" indent="0">
              <a:buNone/>
            </a:pPr>
            <a:r>
              <a:rPr lang="en-US" sz="1100" b="1" dirty="0">
                <a:solidFill>
                  <a:srgbClr val="0D2137"/>
                </a:solidFill>
              </a:rPr>
              <a:t>Quality Gap</a:t>
            </a:r>
            <a:endParaRPr lang="en-US" sz="1100" dirty="0"/>
          </a:p>
        </p:txBody>
      </p:sp>
      <p:sp>
        <p:nvSpPr>
          <p:cNvPr id="38" name="Text 36"/>
          <p:cNvSpPr/>
          <p:nvPr/>
        </p:nvSpPr>
        <p:spPr>
          <a:xfrm>
            <a:off x="6400800" y="3456432"/>
            <a:ext cx="2331720" cy="329184"/>
          </a:xfrm>
          <a:prstGeom prst="rect">
            <a:avLst/>
          </a:prstGeom>
          <a:noFill/>
          <a:ln/>
        </p:spPr>
        <p:txBody>
          <a:bodyPr wrap="square" rtlCol="0" anchor="ctr"/>
          <a:lstStyle/>
          <a:p>
            <a:pPr marL="0" indent="0">
              <a:buNone/>
            </a:pPr>
            <a:r>
              <a:rPr lang="en-US" sz="900" dirty="0">
                <a:solidFill>
                  <a:srgbClr val="334155"/>
                </a:solidFill>
              </a:rPr>
              <a:t>Some apps show 2× more complaints than peers for equivalent services</a:t>
            </a:r>
            <a:endParaRPr lang="en-US" sz="900" dirty="0"/>
          </a:p>
        </p:txBody>
      </p:sp>
      <p:sp>
        <p:nvSpPr>
          <p:cNvPr id="39" name="Shape 37"/>
          <p:cNvSpPr/>
          <p:nvPr/>
        </p:nvSpPr>
        <p:spPr>
          <a:xfrm>
            <a:off x="6217920" y="3941064"/>
            <a:ext cx="2606040" cy="685800"/>
          </a:xfrm>
          <a:prstGeom prst="rect">
            <a:avLst/>
          </a:prstGeom>
          <a:solidFill>
            <a:srgbClr val="FFFFFF"/>
          </a:solidFill>
          <a:ln/>
          <a:effectLst>
            <a:outerShdw blurRad="101600" dist="38100" dir="8100000" algn="bl" rotWithShape="0">
              <a:srgbClr val="000000">
                <a:alpha val="12000"/>
              </a:srgbClr>
            </a:outerShdw>
          </a:effectLst>
        </p:spPr>
      </p:sp>
      <p:sp>
        <p:nvSpPr>
          <p:cNvPr id="40" name="Shape 38"/>
          <p:cNvSpPr/>
          <p:nvPr/>
        </p:nvSpPr>
        <p:spPr>
          <a:xfrm>
            <a:off x="6217920" y="3941064"/>
            <a:ext cx="64008" cy="685800"/>
          </a:xfrm>
          <a:prstGeom prst="rect">
            <a:avLst/>
          </a:prstGeom>
          <a:solidFill>
            <a:srgbClr val="00A896"/>
          </a:solidFill>
          <a:ln/>
        </p:spPr>
      </p:sp>
      <p:sp>
        <p:nvSpPr>
          <p:cNvPr id="41" name="Text 39"/>
          <p:cNvSpPr/>
          <p:nvPr/>
        </p:nvSpPr>
        <p:spPr>
          <a:xfrm>
            <a:off x="6400800" y="3977640"/>
            <a:ext cx="2331720" cy="256032"/>
          </a:xfrm>
          <a:prstGeom prst="rect">
            <a:avLst/>
          </a:prstGeom>
          <a:noFill/>
          <a:ln/>
        </p:spPr>
        <p:txBody>
          <a:bodyPr wrap="square" rtlCol="0" anchor="ctr"/>
          <a:lstStyle/>
          <a:p>
            <a:pPr marL="0" indent="0">
              <a:buNone/>
            </a:pPr>
            <a:r>
              <a:rPr lang="en-US" sz="1100" b="1" dirty="0">
                <a:solidFill>
                  <a:srgbClr val="0D2137"/>
                </a:solidFill>
              </a:rPr>
              <a:t>April 2026 Spike</a:t>
            </a:r>
            <a:endParaRPr lang="en-US" sz="1100" dirty="0"/>
          </a:p>
        </p:txBody>
      </p:sp>
      <p:sp>
        <p:nvSpPr>
          <p:cNvPr id="42" name="Text 40"/>
          <p:cNvSpPr/>
          <p:nvPr/>
        </p:nvSpPr>
        <p:spPr>
          <a:xfrm>
            <a:off x="6400800" y="4251960"/>
            <a:ext cx="2331720" cy="329184"/>
          </a:xfrm>
          <a:prstGeom prst="rect">
            <a:avLst/>
          </a:prstGeom>
          <a:noFill/>
          <a:ln/>
        </p:spPr>
        <p:txBody>
          <a:bodyPr wrap="square" rtlCol="0" anchor="ctr"/>
          <a:lstStyle/>
          <a:p>
            <a:pPr marL="0" indent="0">
              <a:buNone/>
            </a:pPr>
            <a:r>
              <a:rPr lang="en-US" sz="900" dirty="0">
                <a:solidFill>
                  <a:srgbClr val="334155"/>
                </a:solidFill>
              </a:rPr>
              <a:t>Statistical anomaly detected — major system event caused unprecedented complaint surge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5C6B"/>
          </a:solidFill>
          <a:ln/>
        </p:spPr>
      </p:sp>
      <p:sp>
        <p:nvSpPr>
          <p:cNvPr id="3" name="Text 1"/>
          <p:cNvSpPr/>
          <p:nvPr/>
        </p:nvSpPr>
        <p:spPr>
          <a:xfrm>
            <a:off x="365760" y="0"/>
            <a:ext cx="8229600" cy="502920"/>
          </a:xfrm>
          <a:prstGeom prst="rect">
            <a:avLst/>
          </a:prstGeom>
          <a:noFill/>
          <a:ln/>
        </p:spPr>
        <p:txBody>
          <a:bodyPr wrap="square" rtlCol="0" anchor="ctr"/>
          <a:lstStyle/>
          <a:p>
            <a:pPr marL="0" indent="0">
              <a:buNone/>
            </a:pPr>
            <a:r>
              <a:rPr lang="en-US" sz="1100" b="1" kern="0" spc="300" dirty="0">
                <a:solidFill>
                  <a:srgbClr val="02C39A"/>
                </a:solidFill>
              </a:rPr>
              <a:t>MODEL PERFORMANCE</a:t>
            </a:r>
            <a:endParaRPr lang="en-US" sz="1100" dirty="0"/>
          </a:p>
        </p:txBody>
      </p:sp>
      <p:sp>
        <p:nvSpPr>
          <p:cNvPr id="4" name="Text 2"/>
          <p:cNvSpPr/>
          <p:nvPr/>
        </p:nvSpPr>
        <p:spPr>
          <a:xfrm>
            <a:off x="365760" y="475488"/>
            <a:ext cx="8229600" cy="50292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Machine Learning: Model Evolution &amp; Results</a:t>
            </a:r>
            <a:endParaRPr lang="en-US" sz="2000" dirty="0"/>
          </a:p>
        </p:txBody>
      </p:sp>
      <p:sp>
        <p:nvSpPr>
          <p:cNvPr id="5" name="Shape 3"/>
          <p:cNvSpPr/>
          <p:nvPr/>
        </p:nvSpPr>
        <p:spPr>
          <a:xfrm>
            <a:off x="274320" y="1143000"/>
            <a:ext cx="3163824" cy="411480"/>
          </a:xfrm>
          <a:prstGeom prst="rect">
            <a:avLst/>
          </a:prstGeom>
          <a:solidFill>
            <a:srgbClr val="00A896"/>
          </a:solidFill>
          <a:ln/>
        </p:spPr>
      </p:sp>
      <p:sp>
        <p:nvSpPr>
          <p:cNvPr id="6" name="Text 4"/>
          <p:cNvSpPr/>
          <p:nvPr/>
        </p:nvSpPr>
        <p:spPr>
          <a:xfrm>
            <a:off x="347472" y="1143000"/>
            <a:ext cx="3063240" cy="411480"/>
          </a:xfrm>
          <a:prstGeom prst="rect">
            <a:avLst/>
          </a:prstGeom>
          <a:noFill/>
          <a:ln/>
        </p:spPr>
        <p:txBody>
          <a:bodyPr wrap="square" rtlCol="0" anchor="ctr"/>
          <a:lstStyle/>
          <a:p>
            <a:pPr marL="0" indent="0">
              <a:buNone/>
            </a:pPr>
            <a:r>
              <a:rPr lang="en-US" sz="1200" b="1" dirty="0">
                <a:solidFill>
                  <a:srgbClr val="FFFFFF"/>
                </a:solidFill>
              </a:rPr>
              <a:t>Model</a:t>
            </a:r>
            <a:endParaRPr lang="en-US" sz="1200" dirty="0"/>
          </a:p>
        </p:txBody>
      </p:sp>
      <p:sp>
        <p:nvSpPr>
          <p:cNvPr id="7" name="Shape 5"/>
          <p:cNvSpPr/>
          <p:nvPr/>
        </p:nvSpPr>
        <p:spPr>
          <a:xfrm>
            <a:off x="3474720" y="1143000"/>
            <a:ext cx="1792224" cy="411480"/>
          </a:xfrm>
          <a:prstGeom prst="rect">
            <a:avLst/>
          </a:prstGeom>
          <a:solidFill>
            <a:srgbClr val="00A896"/>
          </a:solidFill>
          <a:ln/>
        </p:spPr>
      </p:sp>
      <p:sp>
        <p:nvSpPr>
          <p:cNvPr id="8" name="Text 6"/>
          <p:cNvSpPr/>
          <p:nvPr/>
        </p:nvSpPr>
        <p:spPr>
          <a:xfrm>
            <a:off x="3547872" y="1143000"/>
            <a:ext cx="1691640" cy="411480"/>
          </a:xfrm>
          <a:prstGeom prst="rect">
            <a:avLst/>
          </a:prstGeom>
          <a:noFill/>
          <a:ln/>
        </p:spPr>
        <p:txBody>
          <a:bodyPr wrap="square" rtlCol="0" anchor="ctr"/>
          <a:lstStyle/>
          <a:p>
            <a:pPr marL="0" indent="0">
              <a:buNone/>
            </a:pPr>
            <a:r>
              <a:rPr lang="en-US" sz="1200" b="1" dirty="0">
                <a:solidFill>
                  <a:srgbClr val="FFFFFF"/>
                </a:solidFill>
              </a:rPr>
              <a:t>F1-Score</a:t>
            </a:r>
            <a:endParaRPr lang="en-US" sz="1200" dirty="0"/>
          </a:p>
        </p:txBody>
      </p:sp>
      <p:sp>
        <p:nvSpPr>
          <p:cNvPr id="9" name="Shape 7"/>
          <p:cNvSpPr/>
          <p:nvPr/>
        </p:nvSpPr>
        <p:spPr>
          <a:xfrm>
            <a:off x="5303520" y="1143000"/>
            <a:ext cx="1792224" cy="411480"/>
          </a:xfrm>
          <a:prstGeom prst="rect">
            <a:avLst/>
          </a:prstGeom>
          <a:solidFill>
            <a:srgbClr val="00A896"/>
          </a:solidFill>
          <a:ln/>
        </p:spPr>
      </p:sp>
      <p:sp>
        <p:nvSpPr>
          <p:cNvPr id="10" name="Text 8"/>
          <p:cNvSpPr/>
          <p:nvPr/>
        </p:nvSpPr>
        <p:spPr>
          <a:xfrm>
            <a:off x="5376672" y="1143000"/>
            <a:ext cx="1691640" cy="411480"/>
          </a:xfrm>
          <a:prstGeom prst="rect">
            <a:avLst/>
          </a:prstGeom>
          <a:noFill/>
          <a:ln/>
        </p:spPr>
        <p:txBody>
          <a:bodyPr wrap="square" rtlCol="0" anchor="ctr"/>
          <a:lstStyle/>
          <a:p>
            <a:pPr marL="0" indent="0">
              <a:buNone/>
            </a:pPr>
            <a:r>
              <a:rPr lang="en-US" sz="1200" b="1" dirty="0">
                <a:solidFill>
                  <a:srgbClr val="FFFFFF"/>
                </a:solidFill>
              </a:rPr>
              <a:t>Accuracy</a:t>
            </a:r>
            <a:endParaRPr lang="en-US" sz="1200" dirty="0"/>
          </a:p>
        </p:txBody>
      </p:sp>
      <p:sp>
        <p:nvSpPr>
          <p:cNvPr id="11" name="Shape 9"/>
          <p:cNvSpPr/>
          <p:nvPr/>
        </p:nvSpPr>
        <p:spPr>
          <a:xfrm>
            <a:off x="7132320" y="1143000"/>
            <a:ext cx="1975104" cy="411480"/>
          </a:xfrm>
          <a:prstGeom prst="rect">
            <a:avLst/>
          </a:prstGeom>
          <a:solidFill>
            <a:srgbClr val="00A896"/>
          </a:solidFill>
          <a:ln/>
        </p:spPr>
      </p:sp>
      <p:sp>
        <p:nvSpPr>
          <p:cNvPr id="12" name="Text 10"/>
          <p:cNvSpPr/>
          <p:nvPr/>
        </p:nvSpPr>
        <p:spPr>
          <a:xfrm>
            <a:off x="7205472" y="1143000"/>
            <a:ext cx="1874520" cy="411480"/>
          </a:xfrm>
          <a:prstGeom prst="rect">
            <a:avLst/>
          </a:prstGeom>
          <a:noFill/>
          <a:ln/>
        </p:spPr>
        <p:txBody>
          <a:bodyPr wrap="square" rtlCol="0" anchor="ctr"/>
          <a:lstStyle/>
          <a:p>
            <a:pPr marL="0" indent="0">
              <a:buNone/>
            </a:pPr>
            <a:r>
              <a:rPr lang="en-US" sz="1200" b="1" dirty="0">
                <a:solidFill>
                  <a:srgbClr val="FFFFFF"/>
                </a:solidFill>
              </a:rPr>
              <a:t>Status</a:t>
            </a:r>
            <a:endParaRPr lang="en-US" sz="1200" dirty="0"/>
          </a:p>
        </p:txBody>
      </p:sp>
      <p:sp>
        <p:nvSpPr>
          <p:cNvPr id="13" name="Shape 11"/>
          <p:cNvSpPr/>
          <p:nvPr/>
        </p:nvSpPr>
        <p:spPr>
          <a:xfrm>
            <a:off x="274320" y="1572768"/>
            <a:ext cx="3163824" cy="521208"/>
          </a:xfrm>
          <a:prstGeom prst="rect">
            <a:avLst/>
          </a:prstGeom>
          <a:solidFill>
            <a:srgbClr val="0A5C6B"/>
          </a:solidFill>
          <a:ln/>
        </p:spPr>
      </p:sp>
      <p:sp>
        <p:nvSpPr>
          <p:cNvPr id="14" name="Text 12"/>
          <p:cNvSpPr/>
          <p:nvPr/>
        </p:nvSpPr>
        <p:spPr>
          <a:xfrm>
            <a:off x="347472" y="1572768"/>
            <a:ext cx="3063240" cy="521208"/>
          </a:xfrm>
          <a:prstGeom prst="rect">
            <a:avLst/>
          </a:prstGeom>
          <a:noFill/>
          <a:ln/>
        </p:spPr>
        <p:txBody>
          <a:bodyPr wrap="square" rtlCol="0" anchor="ctr"/>
          <a:lstStyle/>
          <a:p>
            <a:pPr marL="0" indent="0">
              <a:buNone/>
            </a:pPr>
            <a:r>
              <a:rPr lang="en-US" sz="1100" dirty="0">
                <a:solidFill>
                  <a:srgbClr val="FFFFFF"/>
                </a:solidFill>
              </a:rPr>
              <a:t>TF-IDF + Logistic Regression (Baseline)</a:t>
            </a:r>
            <a:endParaRPr lang="en-US" sz="1100" dirty="0"/>
          </a:p>
        </p:txBody>
      </p:sp>
      <p:sp>
        <p:nvSpPr>
          <p:cNvPr id="15" name="Shape 13"/>
          <p:cNvSpPr/>
          <p:nvPr/>
        </p:nvSpPr>
        <p:spPr>
          <a:xfrm>
            <a:off x="3474720" y="1572768"/>
            <a:ext cx="1792224" cy="521208"/>
          </a:xfrm>
          <a:prstGeom prst="rect">
            <a:avLst/>
          </a:prstGeom>
          <a:solidFill>
            <a:srgbClr val="0A5C6B"/>
          </a:solidFill>
          <a:ln/>
        </p:spPr>
      </p:sp>
      <p:sp>
        <p:nvSpPr>
          <p:cNvPr id="16" name="Text 14"/>
          <p:cNvSpPr/>
          <p:nvPr/>
        </p:nvSpPr>
        <p:spPr>
          <a:xfrm>
            <a:off x="3547872" y="1572768"/>
            <a:ext cx="1691640" cy="521208"/>
          </a:xfrm>
          <a:prstGeom prst="rect">
            <a:avLst/>
          </a:prstGeom>
          <a:noFill/>
          <a:ln/>
        </p:spPr>
        <p:txBody>
          <a:bodyPr wrap="square" rtlCol="0" anchor="ctr"/>
          <a:lstStyle/>
          <a:p>
            <a:pPr marL="0" indent="0">
              <a:buNone/>
            </a:pPr>
            <a:r>
              <a:rPr lang="en-US" sz="1100" dirty="0">
                <a:solidFill>
                  <a:srgbClr val="FFFFFF"/>
                </a:solidFill>
              </a:rPr>
              <a:t>0.827</a:t>
            </a:r>
            <a:endParaRPr lang="en-US" sz="1100" dirty="0"/>
          </a:p>
        </p:txBody>
      </p:sp>
      <p:sp>
        <p:nvSpPr>
          <p:cNvPr id="17" name="Shape 15"/>
          <p:cNvSpPr/>
          <p:nvPr/>
        </p:nvSpPr>
        <p:spPr>
          <a:xfrm>
            <a:off x="5303520" y="1572768"/>
            <a:ext cx="1792224" cy="521208"/>
          </a:xfrm>
          <a:prstGeom prst="rect">
            <a:avLst/>
          </a:prstGeom>
          <a:solidFill>
            <a:srgbClr val="0A5C6B"/>
          </a:solidFill>
          <a:ln/>
        </p:spPr>
      </p:sp>
      <p:sp>
        <p:nvSpPr>
          <p:cNvPr id="18" name="Text 16"/>
          <p:cNvSpPr/>
          <p:nvPr/>
        </p:nvSpPr>
        <p:spPr>
          <a:xfrm>
            <a:off x="5376672" y="1572768"/>
            <a:ext cx="1691640" cy="521208"/>
          </a:xfrm>
          <a:prstGeom prst="rect">
            <a:avLst/>
          </a:prstGeom>
          <a:noFill/>
          <a:ln/>
        </p:spPr>
        <p:txBody>
          <a:bodyPr wrap="square" rtlCol="0" anchor="ctr"/>
          <a:lstStyle/>
          <a:p>
            <a:pPr marL="0" indent="0">
              <a:buNone/>
            </a:pPr>
            <a:r>
              <a:rPr lang="en-US" sz="1100" dirty="0">
                <a:solidFill>
                  <a:srgbClr val="FFFFFF"/>
                </a:solidFill>
              </a:rPr>
              <a:t>80%</a:t>
            </a:r>
            <a:endParaRPr lang="en-US" sz="1100" dirty="0"/>
          </a:p>
        </p:txBody>
      </p:sp>
      <p:sp>
        <p:nvSpPr>
          <p:cNvPr id="19" name="Shape 17"/>
          <p:cNvSpPr/>
          <p:nvPr/>
        </p:nvSpPr>
        <p:spPr>
          <a:xfrm>
            <a:off x="7132320" y="1572768"/>
            <a:ext cx="1975104" cy="521208"/>
          </a:xfrm>
          <a:prstGeom prst="rect">
            <a:avLst/>
          </a:prstGeom>
          <a:solidFill>
            <a:srgbClr val="0A5C6B"/>
          </a:solidFill>
          <a:ln/>
        </p:spPr>
      </p:sp>
      <p:sp>
        <p:nvSpPr>
          <p:cNvPr id="20" name="Text 18"/>
          <p:cNvSpPr/>
          <p:nvPr/>
        </p:nvSpPr>
        <p:spPr>
          <a:xfrm>
            <a:off x="7205472" y="1572768"/>
            <a:ext cx="1874520" cy="521208"/>
          </a:xfrm>
          <a:prstGeom prst="rect">
            <a:avLst/>
          </a:prstGeom>
          <a:noFill/>
          <a:ln/>
        </p:spPr>
        <p:txBody>
          <a:bodyPr wrap="square" rtlCol="0" anchor="ctr"/>
          <a:lstStyle/>
          <a:p>
            <a:pPr marL="0" indent="0">
              <a:buNone/>
            </a:pPr>
            <a:r>
              <a:rPr lang="en-US" sz="1100" dirty="0">
                <a:solidFill>
                  <a:srgbClr val="CBD5E1"/>
                </a:solidFill>
              </a:rPr>
              <a:t>Baseline</a:t>
            </a:r>
            <a:endParaRPr lang="en-US" sz="1100" dirty="0"/>
          </a:p>
        </p:txBody>
      </p:sp>
      <p:sp>
        <p:nvSpPr>
          <p:cNvPr id="21" name="Shape 19"/>
          <p:cNvSpPr/>
          <p:nvPr/>
        </p:nvSpPr>
        <p:spPr>
          <a:xfrm>
            <a:off x="274320" y="2121408"/>
            <a:ext cx="3163824" cy="521208"/>
          </a:xfrm>
          <a:prstGeom prst="rect">
            <a:avLst/>
          </a:prstGeom>
          <a:solidFill>
            <a:srgbClr val="0A4A5C"/>
          </a:solidFill>
          <a:ln/>
        </p:spPr>
      </p:sp>
      <p:sp>
        <p:nvSpPr>
          <p:cNvPr id="22" name="Text 20"/>
          <p:cNvSpPr/>
          <p:nvPr/>
        </p:nvSpPr>
        <p:spPr>
          <a:xfrm>
            <a:off x="347472" y="2121408"/>
            <a:ext cx="3063240" cy="521208"/>
          </a:xfrm>
          <a:prstGeom prst="rect">
            <a:avLst/>
          </a:prstGeom>
          <a:noFill/>
          <a:ln/>
        </p:spPr>
        <p:txBody>
          <a:bodyPr wrap="square" rtlCol="0" anchor="ctr"/>
          <a:lstStyle/>
          <a:p>
            <a:pPr marL="0" indent="0">
              <a:buNone/>
            </a:pPr>
            <a:r>
              <a:rPr lang="en-US" sz="1100" dirty="0">
                <a:solidFill>
                  <a:srgbClr val="FFFFFF"/>
                </a:solidFill>
              </a:rPr>
              <a:t>TF-IDF + XGBoost (Intermediate)</a:t>
            </a:r>
            <a:endParaRPr lang="en-US" sz="1100" dirty="0"/>
          </a:p>
        </p:txBody>
      </p:sp>
      <p:sp>
        <p:nvSpPr>
          <p:cNvPr id="23" name="Shape 21"/>
          <p:cNvSpPr/>
          <p:nvPr/>
        </p:nvSpPr>
        <p:spPr>
          <a:xfrm>
            <a:off x="3474720" y="2121408"/>
            <a:ext cx="1792224" cy="521208"/>
          </a:xfrm>
          <a:prstGeom prst="rect">
            <a:avLst/>
          </a:prstGeom>
          <a:solidFill>
            <a:srgbClr val="0A4A5C"/>
          </a:solidFill>
          <a:ln/>
        </p:spPr>
      </p:sp>
      <p:sp>
        <p:nvSpPr>
          <p:cNvPr id="24" name="Text 22"/>
          <p:cNvSpPr/>
          <p:nvPr/>
        </p:nvSpPr>
        <p:spPr>
          <a:xfrm>
            <a:off x="3547872" y="2121408"/>
            <a:ext cx="1691640" cy="521208"/>
          </a:xfrm>
          <a:prstGeom prst="rect">
            <a:avLst/>
          </a:prstGeom>
          <a:noFill/>
          <a:ln/>
        </p:spPr>
        <p:txBody>
          <a:bodyPr wrap="square" rtlCol="0" anchor="ctr"/>
          <a:lstStyle/>
          <a:p>
            <a:pPr marL="0" indent="0">
              <a:buNone/>
            </a:pPr>
            <a:r>
              <a:rPr lang="en-US" sz="1100" dirty="0">
                <a:solidFill>
                  <a:srgbClr val="FFFFFF"/>
                </a:solidFill>
              </a:rPr>
              <a:t>0.818</a:t>
            </a:r>
            <a:endParaRPr lang="en-US" sz="1100" dirty="0"/>
          </a:p>
        </p:txBody>
      </p:sp>
      <p:sp>
        <p:nvSpPr>
          <p:cNvPr id="25" name="Shape 23"/>
          <p:cNvSpPr/>
          <p:nvPr/>
        </p:nvSpPr>
        <p:spPr>
          <a:xfrm>
            <a:off x="5303520" y="2121408"/>
            <a:ext cx="1792224" cy="521208"/>
          </a:xfrm>
          <a:prstGeom prst="rect">
            <a:avLst/>
          </a:prstGeom>
          <a:solidFill>
            <a:srgbClr val="0A4A5C"/>
          </a:solidFill>
          <a:ln/>
        </p:spPr>
      </p:sp>
      <p:sp>
        <p:nvSpPr>
          <p:cNvPr id="26" name="Text 24"/>
          <p:cNvSpPr/>
          <p:nvPr/>
        </p:nvSpPr>
        <p:spPr>
          <a:xfrm>
            <a:off x="5376672" y="2121408"/>
            <a:ext cx="1691640" cy="521208"/>
          </a:xfrm>
          <a:prstGeom prst="rect">
            <a:avLst/>
          </a:prstGeom>
          <a:noFill/>
          <a:ln/>
        </p:spPr>
        <p:txBody>
          <a:bodyPr wrap="square" rtlCol="0" anchor="ctr"/>
          <a:lstStyle/>
          <a:p>
            <a:pPr marL="0" indent="0">
              <a:buNone/>
            </a:pPr>
            <a:r>
              <a:rPr lang="en-US" sz="1100" dirty="0">
                <a:solidFill>
                  <a:srgbClr val="FFFFFF"/>
                </a:solidFill>
              </a:rPr>
              <a:t>85%</a:t>
            </a:r>
            <a:endParaRPr lang="en-US" sz="1100" dirty="0"/>
          </a:p>
        </p:txBody>
      </p:sp>
      <p:sp>
        <p:nvSpPr>
          <p:cNvPr id="27" name="Shape 25"/>
          <p:cNvSpPr/>
          <p:nvPr/>
        </p:nvSpPr>
        <p:spPr>
          <a:xfrm>
            <a:off x="7132320" y="2121408"/>
            <a:ext cx="1975104" cy="521208"/>
          </a:xfrm>
          <a:prstGeom prst="rect">
            <a:avLst/>
          </a:prstGeom>
          <a:solidFill>
            <a:srgbClr val="0A4A5C"/>
          </a:solidFill>
          <a:ln/>
        </p:spPr>
      </p:sp>
      <p:sp>
        <p:nvSpPr>
          <p:cNvPr id="28" name="Text 26"/>
          <p:cNvSpPr/>
          <p:nvPr/>
        </p:nvSpPr>
        <p:spPr>
          <a:xfrm>
            <a:off x="7205472" y="2121408"/>
            <a:ext cx="1874520" cy="521208"/>
          </a:xfrm>
          <a:prstGeom prst="rect">
            <a:avLst/>
          </a:prstGeom>
          <a:noFill/>
          <a:ln/>
        </p:spPr>
        <p:txBody>
          <a:bodyPr wrap="square" rtlCol="0" anchor="ctr"/>
          <a:lstStyle/>
          <a:p>
            <a:pPr marL="0" indent="0">
              <a:buNone/>
            </a:pPr>
            <a:r>
              <a:rPr lang="en-US" sz="1100" dirty="0">
                <a:solidFill>
                  <a:srgbClr val="CBD5E1"/>
                </a:solidFill>
              </a:rPr>
              <a:t>Improved</a:t>
            </a:r>
            <a:endParaRPr lang="en-US" sz="1100" dirty="0"/>
          </a:p>
        </p:txBody>
      </p:sp>
      <p:sp>
        <p:nvSpPr>
          <p:cNvPr id="29" name="Shape 27"/>
          <p:cNvSpPr/>
          <p:nvPr/>
        </p:nvSpPr>
        <p:spPr>
          <a:xfrm>
            <a:off x="274320" y="2670048"/>
            <a:ext cx="3163824" cy="521208"/>
          </a:xfrm>
          <a:prstGeom prst="rect">
            <a:avLst/>
          </a:prstGeom>
          <a:solidFill>
            <a:srgbClr val="0A5C6B"/>
          </a:solidFill>
          <a:ln/>
        </p:spPr>
      </p:sp>
      <p:sp>
        <p:nvSpPr>
          <p:cNvPr id="30" name="Text 28"/>
          <p:cNvSpPr/>
          <p:nvPr/>
        </p:nvSpPr>
        <p:spPr>
          <a:xfrm>
            <a:off x="347472" y="2670048"/>
            <a:ext cx="3063240" cy="521208"/>
          </a:xfrm>
          <a:prstGeom prst="rect">
            <a:avLst/>
          </a:prstGeom>
          <a:noFill/>
          <a:ln/>
        </p:spPr>
        <p:txBody>
          <a:bodyPr wrap="square" rtlCol="0" anchor="ctr"/>
          <a:lstStyle/>
          <a:p>
            <a:pPr marL="0" indent="0">
              <a:buNone/>
            </a:pPr>
            <a:r>
              <a:rPr lang="en-US" sz="1100" dirty="0">
                <a:solidFill>
                  <a:srgbClr val="FFFFFF"/>
                </a:solidFill>
              </a:rPr>
              <a:t>TF-IDF + XGBoost Tuned (Advanced)</a:t>
            </a:r>
            <a:endParaRPr lang="en-US" sz="1100" dirty="0"/>
          </a:p>
        </p:txBody>
      </p:sp>
      <p:sp>
        <p:nvSpPr>
          <p:cNvPr id="31" name="Shape 29"/>
          <p:cNvSpPr/>
          <p:nvPr/>
        </p:nvSpPr>
        <p:spPr>
          <a:xfrm>
            <a:off x="3474720" y="2670048"/>
            <a:ext cx="1792224" cy="521208"/>
          </a:xfrm>
          <a:prstGeom prst="rect">
            <a:avLst/>
          </a:prstGeom>
          <a:solidFill>
            <a:srgbClr val="0A5C6B"/>
          </a:solidFill>
          <a:ln/>
        </p:spPr>
      </p:sp>
      <p:sp>
        <p:nvSpPr>
          <p:cNvPr id="32" name="Text 30"/>
          <p:cNvSpPr/>
          <p:nvPr/>
        </p:nvSpPr>
        <p:spPr>
          <a:xfrm>
            <a:off x="3547872" y="2670048"/>
            <a:ext cx="1691640" cy="521208"/>
          </a:xfrm>
          <a:prstGeom prst="rect">
            <a:avLst/>
          </a:prstGeom>
          <a:noFill/>
          <a:ln/>
        </p:spPr>
        <p:txBody>
          <a:bodyPr wrap="square" rtlCol="0" anchor="ctr"/>
          <a:lstStyle/>
          <a:p>
            <a:pPr marL="0" indent="0">
              <a:buNone/>
            </a:pPr>
            <a:r>
              <a:rPr lang="en-US" sz="1100" dirty="0">
                <a:solidFill>
                  <a:srgbClr val="FFFFFF"/>
                </a:solidFill>
              </a:rPr>
              <a:t>0.848</a:t>
            </a:r>
            <a:endParaRPr lang="en-US" sz="1100" dirty="0"/>
          </a:p>
        </p:txBody>
      </p:sp>
      <p:sp>
        <p:nvSpPr>
          <p:cNvPr id="33" name="Shape 31"/>
          <p:cNvSpPr/>
          <p:nvPr/>
        </p:nvSpPr>
        <p:spPr>
          <a:xfrm>
            <a:off x="5303520" y="2670048"/>
            <a:ext cx="1792224" cy="521208"/>
          </a:xfrm>
          <a:prstGeom prst="rect">
            <a:avLst/>
          </a:prstGeom>
          <a:solidFill>
            <a:srgbClr val="0A5C6B"/>
          </a:solidFill>
          <a:ln/>
        </p:spPr>
      </p:sp>
      <p:sp>
        <p:nvSpPr>
          <p:cNvPr id="34" name="Text 32"/>
          <p:cNvSpPr/>
          <p:nvPr/>
        </p:nvSpPr>
        <p:spPr>
          <a:xfrm>
            <a:off x="5376672" y="2670048"/>
            <a:ext cx="1691640" cy="521208"/>
          </a:xfrm>
          <a:prstGeom prst="rect">
            <a:avLst/>
          </a:prstGeom>
          <a:noFill/>
          <a:ln/>
        </p:spPr>
        <p:txBody>
          <a:bodyPr wrap="square" rtlCol="0" anchor="ctr"/>
          <a:lstStyle/>
          <a:p>
            <a:pPr marL="0" indent="0">
              <a:buNone/>
            </a:pPr>
            <a:r>
              <a:rPr lang="en-US" sz="1100" dirty="0">
                <a:solidFill>
                  <a:srgbClr val="FFFFFF"/>
                </a:solidFill>
              </a:rPr>
              <a:t>87%</a:t>
            </a:r>
            <a:endParaRPr lang="en-US" sz="1100" dirty="0"/>
          </a:p>
        </p:txBody>
      </p:sp>
      <p:sp>
        <p:nvSpPr>
          <p:cNvPr id="35" name="Shape 33"/>
          <p:cNvSpPr/>
          <p:nvPr/>
        </p:nvSpPr>
        <p:spPr>
          <a:xfrm>
            <a:off x="7132320" y="2670048"/>
            <a:ext cx="1975104" cy="521208"/>
          </a:xfrm>
          <a:prstGeom prst="rect">
            <a:avLst/>
          </a:prstGeom>
          <a:solidFill>
            <a:srgbClr val="0A5C6B"/>
          </a:solidFill>
          <a:ln/>
        </p:spPr>
      </p:sp>
      <p:sp>
        <p:nvSpPr>
          <p:cNvPr id="36" name="Text 34"/>
          <p:cNvSpPr/>
          <p:nvPr/>
        </p:nvSpPr>
        <p:spPr>
          <a:xfrm>
            <a:off x="7205472" y="2670048"/>
            <a:ext cx="1874520" cy="521208"/>
          </a:xfrm>
          <a:prstGeom prst="rect">
            <a:avLst/>
          </a:prstGeom>
          <a:noFill/>
          <a:ln/>
        </p:spPr>
        <p:txBody>
          <a:bodyPr wrap="square" rtlCol="0" anchor="ctr"/>
          <a:lstStyle/>
          <a:p>
            <a:pPr marL="0" indent="0">
              <a:buNone/>
            </a:pPr>
            <a:r>
              <a:rPr lang="en-US" sz="1100" b="1" dirty="0">
                <a:solidFill>
                  <a:srgbClr val="02C39A"/>
                </a:solidFill>
              </a:rPr>
              <a:t>✓ Production</a:t>
            </a:r>
            <a:endParaRPr lang="en-US" sz="1100" dirty="0"/>
          </a:p>
        </p:txBody>
      </p:sp>
      <p:sp>
        <p:nvSpPr>
          <p:cNvPr id="37" name="Shape 35"/>
          <p:cNvSpPr/>
          <p:nvPr/>
        </p:nvSpPr>
        <p:spPr>
          <a:xfrm>
            <a:off x="274320" y="3218688"/>
            <a:ext cx="3163824" cy="521208"/>
          </a:xfrm>
          <a:prstGeom prst="rect">
            <a:avLst/>
          </a:prstGeom>
          <a:solidFill>
            <a:srgbClr val="0A4A5C"/>
          </a:solidFill>
          <a:ln/>
        </p:spPr>
      </p:sp>
      <p:sp>
        <p:nvSpPr>
          <p:cNvPr id="38" name="Text 36"/>
          <p:cNvSpPr/>
          <p:nvPr/>
        </p:nvSpPr>
        <p:spPr>
          <a:xfrm>
            <a:off x="347472" y="3218688"/>
            <a:ext cx="3063240" cy="521208"/>
          </a:xfrm>
          <a:prstGeom prst="rect">
            <a:avLst/>
          </a:prstGeom>
          <a:noFill/>
          <a:ln/>
        </p:spPr>
        <p:txBody>
          <a:bodyPr wrap="square" rtlCol="0" anchor="ctr"/>
          <a:lstStyle/>
          <a:p>
            <a:pPr marL="0" indent="0">
              <a:buNone/>
            </a:pPr>
            <a:r>
              <a:rPr lang="en-US" sz="1100" dirty="0">
                <a:solidFill>
                  <a:srgbClr val="FFFFFF"/>
                </a:solidFill>
              </a:rPr>
              <a:t>AfriBERTa Transformer (Multilingual)</a:t>
            </a:r>
            <a:endParaRPr lang="en-US" sz="1100" dirty="0"/>
          </a:p>
        </p:txBody>
      </p:sp>
      <p:sp>
        <p:nvSpPr>
          <p:cNvPr id="39" name="Shape 37"/>
          <p:cNvSpPr/>
          <p:nvPr/>
        </p:nvSpPr>
        <p:spPr>
          <a:xfrm>
            <a:off x="3474720" y="3218688"/>
            <a:ext cx="1792224" cy="521208"/>
          </a:xfrm>
          <a:prstGeom prst="rect">
            <a:avLst/>
          </a:prstGeom>
          <a:solidFill>
            <a:srgbClr val="0A4A5C"/>
          </a:solidFill>
          <a:ln/>
        </p:spPr>
      </p:sp>
      <p:sp>
        <p:nvSpPr>
          <p:cNvPr id="40" name="Text 38"/>
          <p:cNvSpPr/>
          <p:nvPr/>
        </p:nvSpPr>
        <p:spPr>
          <a:xfrm>
            <a:off x="3547872" y="3218688"/>
            <a:ext cx="1691640" cy="521208"/>
          </a:xfrm>
          <a:prstGeom prst="rect">
            <a:avLst/>
          </a:prstGeom>
          <a:noFill/>
          <a:ln/>
        </p:spPr>
        <p:txBody>
          <a:bodyPr wrap="square" rtlCol="0" anchor="ctr"/>
          <a:lstStyle/>
          <a:p>
            <a:pPr marL="0" indent="0">
              <a:buNone/>
            </a:pPr>
            <a:r>
              <a:rPr lang="en-US" sz="1100" dirty="0">
                <a:solidFill>
                  <a:srgbClr val="FFFFFF"/>
                </a:solidFill>
              </a:rPr>
              <a:t>0.876</a:t>
            </a:r>
            <a:endParaRPr lang="en-US" sz="1100" dirty="0"/>
          </a:p>
        </p:txBody>
      </p:sp>
      <p:sp>
        <p:nvSpPr>
          <p:cNvPr id="41" name="Shape 39"/>
          <p:cNvSpPr/>
          <p:nvPr/>
        </p:nvSpPr>
        <p:spPr>
          <a:xfrm>
            <a:off x="5303520" y="3218688"/>
            <a:ext cx="1792224" cy="521208"/>
          </a:xfrm>
          <a:prstGeom prst="rect">
            <a:avLst/>
          </a:prstGeom>
          <a:solidFill>
            <a:srgbClr val="0A4A5C"/>
          </a:solidFill>
          <a:ln/>
        </p:spPr>
      </p:sp>
      <p:sp>
        <p:nvSpPr>
          <p:cNvPr id="42" name="Text 40"/>
          <p:cNvSpPr/>
          <p:nvPr/>
        </p:nvSpPr>
        <p:spPr>
          <a:xfrm>
            <a:off x="5376672" y="3218688"/>
            <a:ext cx="1691640" cy="521208"/>
          </a:xfrm>
          <a:prstGeom prst="rect">
            <a:avLst/>
          </a:prstGeom>
          <a:noFill/>
          <a:ln/>
        </p:spPr>
        <p:txBody>
          <a:bodyPr wrap="square" rtlCol="0" anchor="ctr"/>
          <a:lstStyle/>
          <a:p>
            <a:pPr marL="0" indent="0">
              <a:buNone/>
            </a:pPr>
            <a:r>
              <a:rPr lang="en-US" sz="1100" dirty="0">
                <a:solidFill>
                  <a:srgbClr val="FFFFFF"/>
                </a:solidFill>
              </a:rPr>
              <a:t>89.5%</a:t>
            </a:r>
            <a:endParaRPr lang="en-US" sz="1100" dirty="0"/>
          </a:p>
        </p:txBody>
      </p:sp>
      <p:sp>
        <p:nvSpPr>
          <p:cNvPr id="43" name="Shape 41"/>
          <p:cNvSpPr/>
          <p:nvPr/>
        </p:nvSpPr>
        <p:spPr>
          <a:xfrm>
            <a:off x="7132320" y="3218688"/>
            <a:ext cx="1975104" cy="521208"/>
          </a:xfrm>
          <a:prstGeom prst="rect">
            <a:avLst/>
          </a:prstGeom>
          <a:solidFill>
            <a:srgbClr val="0A4A5C"/>
          </a:solidFill>
          <a:ln/>
        </p:spPr>
      </p:sp>
      <p:sp>
        <p:nvSpPr>
          <p:cNvPr id="44" name="Text 42"/>
          <p:cNvSpPr/>
          <p:nvPr/>
        </p:nvSpPr>
        <p:spPr>
          <a:xfrm>
            <a:off x="7205472" y="3218688"/>
            <a:ext cx="1874520" cy="521208"/>
          </a:xfrm>
          <a:prstGeom prst="rect">
            <a:avLst/>
          </a:prstGeom>
          <a:noFill/>
          <a:ln/>
        </p:spPr>
        <p:txBody>
          <a:bodyPr wrap="square" rtlCol="0" anchor="ctr"/>
          <a:lstStyle/>
          <a:p>
            <a:pPr marL="0" indent="0">
              <a:buNone/>
            </a:pPr>
            <a:r>
              <a:rPr lang="en-US" sz="1100" b="1" dirty="0">
                <a:solidFill>
                  <a:srgbClr val="02C39A"/>
                </a:solidFill>
              </a:rPr>
              <a:t>✓ Multilingual</a:t>
            </a:r>
            <a:endParaRPr lang="en-US" sz="1100" dirty="0"/>
          </a:p>
        </p:txBody>
      </p:sp>
      <p:sp>
        <p:nvSpPr>
          <p:cNvPr id="45" name="Text 43"/>
          <p:cNvSpPr/>
          <p:nvPr/>
        </p:nvSpPr>
        <p:spPr>
          <a:xfrm>
            <a:off x="274320" y="3794760"/>
            <a:ext cx="8595360" cy="365760"/>
          </a:xfrm>
          <a:prstGeom prst="rect">
            <a:avLst/>
          </a:prstGeom>
          <a:noFill/>
          <a:ln/>
        </p:spPr>
        <p:txBody>
          <a:bodyPr wrap="square" rtlCol="0" anchor="ctr"/>
          <a:lstStyle/>
          <a:p>
            <a:pPr marL="0" indent="0">
              <a:buNone/>
            </a:pPr>
            <a:r>
              <a:rPr lang="en-US" sz="1200" b="1" dirty="0">
                <a:solidFill>
                  <a:srgbClr val="02C39A"/>
                </a:solidFill>
              </a:rPr>
              <a:t>Critical Sentiment Signals Identified via SHAP</a:t>
            </a:r>
            <a:endParaRPr lang="en-US" sz="1200" dirty="0"/>
          </a:p>
        </p:txBody>
      </p:sp>
      <p:sp>
        <p:nvSpPr>
          <p:cNvPr id="46" name="Shape 44"/>
          <p:cNvSpPr/>
          <p:nvPr/>
        </p:nvSpPr>
        <p:spPr>
          <a:xfrm>
            <a:off x="274320" y="4160520"/>
            <a:ext cx="4114800" cy="685800"/>
          </a:xfrm>
          <a:prstGeom prst="rect">
            <a:avLst/>
          </a:prstGeom>
          <a:solidFill>
            <a:srgbClr val="EF4444">
              <a:alpha val="20000"/>
            </a:srgbClr>
          </a:solidFill>
          <a:ln/>
        </p:spPr>
      </p:sp>
      <p:sp>
        <p:nvSpPr>
          <p:cNvPr id="47" name="Text 45"/>
          <p:cNvSpPr/>
          <p:nvPr/>
        </p:nvSpPr>
        <p:spPr>
          <a:xfrm>
            <a:off x="411480" y="4160520"/>
            <a:ext cx="3931920" cy="685800"/>
          </a:xfrm>
          <a:prstGeom prst="rect">
            <a:avLst/>
          </a:prstGeom>
          <a:noFill/>
          <a:ln/>
        </p:spPr>
        <p:txBody>
          <a:bodyPr wrap="square" rtlCol="0" anchor="ctr"/>
          <a:lstStyle/>
          <a:p>
            <a:pPr marL="0" indent="0">
              <a:buNone/>
            </a:pPr>
            <a:r>
              <a:rPr lang="en-US" sz="1000" dirty="0">
                <a:solidFill>
                  <a:srgbClr val="FFFFFF"/>
                </a:solidFill>
              </a:rPr>
              <a:t>Negative Drivers: worst · useless · poor · terrible · slow · crashing · login</a:t>
            </a:r>
            <a:endParaRPr lang="en-US" sz="1000" dirty="0"/>
          </a:p>
        </p:txBody>
      </p:sp>
      <p:sp>
        <p:nvSpPr>
          <p:cNvPr id="48" name="Shape 46"/>
          <p:cNvSpPr/>
          <p:nvPr/>
        </p:nvSpPr>
        <p:spPr>
          <a:xfrm>
            <a:off x="4663440" y="4160520"/>
            <a:ext cx="4114800" cy="685800"/>
          </a:xfrm>
          <a:prstGeom prst="rect">
            <a:avLst/>
          </a:prstGeom>
          <a:solidFill>
            <a:srgbClr val="10B981">
              <a:alpha val="20000"/>
            </a:srgbClr>
          </a:solidFill>
          <a:ln/>
        </p:spPr>
      </p:sp>
      <p:sp>
        <p:nvSpPr>
          <p:cNvPr id="49" name="Text 47"/>
          <p:cNvSpPr/>
          <p:nvPr/>
        </p:nvSpPr>
        <p:spPr>
          <a:xfrm>
            <a:off x="4800600" y="4160520"/>
            <a:ext cx="3931920" cy="685800"/>
          </a:xfrm>
          <a:prstGeom prst="rect">
            <a:avLst/>
          </a:prstGeom>
          <a:noFill/>
          <a:ln/>
        </p:spPr>
        <p:txBody>
          <a:bodyPr wrap="square" rtlCol="0" anchor="ctr"/>
          <a:lstStyle/>
          <a:p>
            <a:pPr marL="0" indent="0">
              <a:buNone/>
            </a:pPr>
            <a:r>
              <a:rPr lang="en-US" sz="1000" dirty="0">
                <a:solidFill>
                  <a:srgbClr val="FFFFFF"/>
                </a:solidFill>
              </a:rPr>
              <a:t>Positive Drivers: excellent · exceptional · reliable · seamless · efficient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137"/>
          </a:solidFill>
          <a:ln/>
        </p:spPr>
      </p:sp>
      <p:sp>
        <p:nvSpPr>
          <p:cNvPr id="3" name="Text 1"/>
          <p:cNvSpPr/>
          <p:nvPr/>
        </p:nvSpPr>
        <p:spPr>
          <a:xfrm>
            <a:off x="365760" y="0"/>
            <a:ext cx="8229600" cy="502920"/>
          </a:xfrm>
          <a:prstGeom prst="rect">
            <a:avLst/>
          </a:prstGeom>
          <a:noFill/>
          <a:ln/>
        </p:spPr>
        <p:txBody>
          <a:bodyPr wrap="square" rtlCol="0" anchor="ctr"/>
          <a:lstStyle/>
          <a:p>
            <a:pPr marL="0" indent="0">
              <a:buNone/>
            </a:pPr>
            <a:r>
              <a:rPr lang="en-US" sz="1100" b="1" kern="0" spc="300" dirty="0">
                <a:solidFill>
                  <a:srgbClr val="02C39A"/>
                </a:solidFill>
              </a:rPr>
              <a:t>THE CORE INNOVATION</a:t>
            </a:r>
            <a:endParaRPr lang="en-US" sz="1100" dirty="0"/>
          </a:p>
        </p:txBody>
      </p:sp>
      <p:sp>
        <p:nvSpPr>
          <p:cNvPr id="4" name="Text 2"/>
          <p:cNvSpPr/>
          <p:nvPr/>
        </p:nvSpPr>
        <p:spPr>
          <a:xfrm>
            <a:off x="365760" y="475488"/>
            <a:ext cx="8229600" cy="502920"/>
          </a:xfrm>
          <a:prstGeom prst="rect">
            <a:avLst/>
          </a:prstGeom>
          <a:noFill/>
          <a:ln/>
        </p:spPr>
        <p:txBody>
          <a:bodyPr wrap="square"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Financial Distress Index (FDI) — Ecosystem Health at a Glance</a:t>
            </a:r>
            <a:endParaRPr lang="en-US" sz="1800" dirty="0"/>
          </a:p>
        </p:txBody>
      </p:sp>
      <p:sp>
        <p:nvSpPr>
          <p:cNvPr id="5" name="Text 3"/>
          <p:cNvSpPr/>
          <p:nvPr/>
        </p:nvSpPr>
        <p:spPr>
          <a:xfrm>
            <a:off x="365760" y="1097280"/>
            <a:ext cx="8412480" cy="411480"/>
          </a:xfrm>
          <a:prstGeom prst="rect">
            <a:avLst/>
          </a:prstGeom>
          <a:noFill/>
          <a:ln/>
        </p:spPr>
        <p:txBody>
          <a:bodyPr wrap="square" rtlCol="0" anchor="ctr"/>
          <a:lstStyle/>
          <a:p>
            <a:pPr marL="0" indent="0">
              <a:buNone/>
            </a:pPr>
            <a:r>
              <a:rPr lang="en-US" sz="1300" dirty="0">
                <a:solidFill>
                  <a:srgbClr val="334155"/>
                </a:solidFill>
              </a:rPr>
              <a:t>A single score (0–100) updated daily, combining three real-time signals:</a:t>
            </a:r>
            <a:endParaRPr lang="en-US" sz="1300" dirty="0"/>
          </a:p>
        </p:txBody>
      </p:sp>
      <p:sp>
        <p:nvSpPr>
          <p:cNvPr id="6" name="Shape 4"/>
          <p:cNvSpPr/>
          <p:nvPr/>
        </p:nvSpPr>
        <p:spPr>
          <a:xfrm>
            <a:off x="365760" y="1600200"/>
            <a:ext cx="2743200" cy="1325880"/>
          </a:xfrm>
          <a:prstGeom prst="rect">
            <a:avLst/>
          </a:prstGeom>
          <a:solidFill>
            <a:srgbClr val="FFFFFF"/>
          </a:solidFill>
          <a:ln/>
          <a:effectLst>
            <a:outerShdw blurRad="101600" dist="38100" dir="8100000" algn="bl" rotWithShape="0">
              <a:srgbClr val="000000">
                <a:alpha val="12000"/>
              </a:srgbClr>
            </a:outerShdw>
          </a:effectLst>
        </p:spPr>
      </p:sp>
      <p:sp>
        <p:nvSpPr>
          <p:cNvPr id="7" name="Shape 5"/>
          <p:cNvSpPr/>
          <p:nvPr/>
        </p:nvSpPr>
        <p:spPr>
          <a:xfrm>
            <a:off x="365760" y="1600200"/>
            <a:ext cx="2743200" cy="164592"/>
          </a:xfrm>
          <a:prstGeom prst="rect">
            <a:avLst/>
          </a:prstGeom>
          <a:solidFill>
            <a:srgbClr val="EF4444"/>
          </a:solidFill>
          <a:ln/>
        </p:spPr>
      </p:sp>
      <p:sp>
        <p:nvSpPr>
          <p:cNvPr id="8" name="Text 6"/>
          <p:cNvSpPr/>
          <p:nvPr/>
        </p:nvSpPr>
        <p:spPr>
          <a:xfrm>
            <a:off x="475488" y="1810512"/>
            <a:ext cx="2514600" cy="411480"/>
          </a:xfrm>
          <a:prstGeom prst="rect">
            <a:avLst/>
          </a:prstGeom>
          <a:noFill/>
          <a:ln/>
        </p:spPr>
        <p:txBody>
          <a:bodyPr wrap="square" rtlCol="0" anchor="ctr"/>
          <a:lstStyle/>
          <a:p>
            <a:pPr marL="0" indent="0">
              <a:buNone/>
            </a:pPr>
            <a:r>
              <a:rPr lang="en-US" sz="1300" b="1" dirty="0">
                <a:solidFill>
                  <a:srgbClr val="0D2137"/>
                </a:solidFill>
              </a:rPr>
              <a:t>Complaint Pressure</a:t>
            </a:r>
            <a:endParaRPr lang="en-US" sz="1300" dirty="0"/>
          </a:p>
        </p:txBody>
      </p:sp>
      <p:sp>
        <p:nvSpPr>
          <p:cNvPr id="9" name="Text 7"/>
          <p:cNvSpPr/>
          <p:nvPr/>
        </p:nvSpPr>
        <p:spPr>
          <a:xfrm>
            <a:off x="475488" y="2240280"/>
            <a:ext cx="2514600" cy="594360"/>
          </a:xfrm>
          <a:prstGeom prst="rect">
            <a:avLst/>
          </a:prstGeom>
          <a:noFill/>
          <a:ln/>
        </p:spPr>
        <p:txBody>
          <a:bodyPr wrap="square" rtlCol="0" anchor="ctr"/>
          <a:lstStyle/>
          <a:p>
            <a:pPr marL="0" indent="0">
              <a:buNone/>
            </a:pPr>
            <a:r>
              <a:rPr lang="en-US" sz="1100" dirty="0">
                <a:solidFill>
                  <a:srgbClr val="334155"/>
                </a:solidFill>
              </a:rPr>
              <a:t>Volume and escalation rate of user complaints</a:t>
            </a:r>
            <a:endParaRPr lang="en-US" sz="1100" dirty="0"/>
          </a:p>
        </p:txBody>
      </p:sp>
      <p:sp>
        <p:nvSpPr>
          <p:cNvPr id="10" name="Shape 8"/>
          <p:cNvSpPr/>
          <p:nvPr/>
        </p:nvSpPr>
        <p:spPr>
          <a:xfrm>
            <a:off x="3291840" y="1600200"/>
            <a:ext cx="2743200" cy="1325880"/>
          </a:xfrm>
          <a:prstGeom prst="rect">
            <a:avLst/>
          </a:prstGeom>
          <a:solidFill>
            <a:srgbClr val="FFFFFF"/>
          </a:solidFill>
          <a:ln/>
          <a:effectLst>
            <a:outerShdw blurRad="101600" dist="38100" dir="8100000" algn="bl" rotWithShape="0">
              <a:srgbClr val="000000">
                <a:alpha val="12000"/>
              </a:srgbClr>
            </a:outerShdw>
          </a:effectLst>
        </p:spPr>
      </p:sp>
      <p:sp>
        <p:nvSpPr>
          <p:cNvPr id="11" name="Shape 9"/>
          <p:cNvSpPr/>
          <p:nvPr/>
        </p:nvSpPr>
        <p:spPr>
          <a:xfrm>
            <a:off x="3291840" y="1600200"/>
            <a:ext cx="2743200" cy="164592"/>
          </a:xfrm>
          <a:prstGeom prst="rect">
            <a:avLst/>
          </a:prstGeom>
          <a:solidFill>
            <a:srgbClr val="F59E0B"/>
          </a:solidFill>
          <a:ln/>
        </p:spPr>
      </p:sp>
      <p:sp>
        <p:nvSpPr>
          <p:cNvPr id="12" name="Text 10"/>
          <p:cNvSpPr/>
          <p:nvPr/>
        </p:nvSpPr>
        <p:spPr>
          <a:xfrm>
            <a:off x="3401568" y="1810512"/>
            <a:ext cx="2514600" cy="411480"/>
          </a:xfrm>
          <a:prstGeom prst="rect">
            <a:avLst/>
          </a:prstGeom>
          <a:noFill/>
          <a:ln/>
        </p:spPr>
        <p:txBody>
          <a:bodyPr wrap="square" rtlCol="0" anchor="ctr"/>
          <a:lstStyle/>
          <a:p>
            <a:pPr marL="0" indent="0">
              <a:buNone/>
            </a:pPr>
            <a:r>
              <a:rPr lang="en-US" sz="1300" b="1" dirty="0">
                <a:solidFill>
                  <a:srgbClr val="0D2137"/>
                </a:solidFill>
              </a:rPr>
              <a:t>Sentiment Deterioration</a:t>
            </a:r>
            <a:endParaRPr lang="en-US" sz="1300" dirty="0"/>
          </a:p>
        </p:txBody>
      </p:sp>
      <p:sp>
        <p:nvSpPr>
          <p:cNvPr id="13" name="Text 11"/>
          <p:cNvSpPr/>
          <p:nvPr/>
        </p:nvSpPr>
        <p:spPr>
          <a:xfrm>
            <a:off x="3401568" y="2240280"/>
            <a:ext cx="2514600" cy="594360"/>
          </a:xfrm>
          <a:prstGeom prst="rect">
            <a:avLst/>
          </a:prstGeom>
          <a:noFill/>
          <a:ln/>
        </p:spPr>
        <p:txBody>
          <a:bodyPr wrap="square" rtlCol="0" anchor="ctr"/>
          <a:lstStyle/>
          <a:p>
            <a:pPr marL="0" indent="0">
              <a:buNone/>
            </a:pPr>
            <a:r>
              <a:rPr lang="en-US" sz="1100" dirty="0">
                <a:solidFill>
                  <a:srgbClr val="334155"/>
                </a:solidFill>
              </a:rPr>
              <a:t>Negative shift in customer tone and language</a:t>
            </a:r>
            <a:endParaRPr lang="en-US" sz="1100" dirty="0"/>
          </a:p>
        </p:txBody>
      </p:sp>
      <p:sp>
        <p:nvSpPr>
          <p:cNvPr id="14" name="Shape 12"/>
          <p:cNvSpPr/>
          <p:nvPr/>
        </p:nvSpPr>
        <p:spPr>
          <a:xfrm>
            <a:off x="6217920" y="1600200"/>
            <a:ext cx="2743200" cy="1325880"/>
          </a:xfrm>
          <a:prstGeom prst="rect">
            <a:avLst/>
          </a:prstGeom>
          <a:solidFill>
            <a:srgbClr val="FFFFFF"/>
          </a:solidFill>
          <a:ln/>
          <a:effectLst>
            <a:outerShdw blurRad="101600" dist="38100" dir="8100000" algn="bl" rotWithShape="0">
              <a:srgbClr val="000000">
                <a:alpha val="12000"/>
              </a:srgbClr>
            </a:outerShdw>
          </a:effectLst>
        </p:spPr>
      </p:sp>
      <p:sp>
        <p:nvSpPr>
          <p:cNvPr id="15" name="Shape 13"/>
          <p:cNvSpPr/>
          <p:nvPr/>
        </p:nvSpPr>
        <p:spPr>
          <a:xfrm>
            <a:off x="6217920" y="1600200"/>
            <a:ext cx="2743200" cy="164592"/>
          </a:xfrm>
          <a:prstGeom prst="rect">
            <a:avLst/>
          </a:prstGeom>
          <a:solidFill>
            <a:srgbClr val="0A5C6B"/>
          </a:solidFill>
          <a:ln/>
        </p:spPr>
      </p:sp>
      <p:sp>
        <p:nvSpPr>
          <p:cNvPr id="16" name="Text 14"/>
          <p:cNvSpPr/>
          <p:nvPr/>
        </p:nvSpPr>
        <p:spPr>
          <a:xfrm>
            <a:off x="6327648" y="1810512"/>
            <a:ext cx="2514600" cy="411480"/>
          </a:xfrm>
          <a:prstGeom prst="rect">
            <a:avLst/>
          </a:prstGeom>
          <a:noFill/>
          <a:ln/>
        </p:spPr>
        <p:txBody>
          <a:bodyPr wrap="square" rtlCol="0" anchor="ctr"/>
          <a:lstStyle/>
          <a:p>
            <a:pPr marL="0" indent="0">
              <a:buNone/>
            </a:pPr>
            <a:r>
              <a:rPr lang="en-US" sz="1300" b="1" dirty="0">
                <a:solidFill>
                  <a:srgbClr val="0D2137"/>
                </a:solidFill>
              </a:rPr>
              <a:t>Rising Issue Trends</a:t>
            </a:r>
            <a:endParaRPr lang="en-US" sz="1300" dirty="0"/>
          </a:p>
        </p:txBody>
      </p:sp>
      <p:sp>
        <p:nvSpPr>
          <p:cNvPr id="17" name="Text 15"/>
          <p:cNvSpPr/>
          <p:nvPr/>
        </p:nvSpPr>
        <p:spPr>
          <a:xfrm>
            <a:off x="6327648" y="2240280"/>
            <a:ext cx="2514600" cy="594360"/>
          </a:xfrm>
          <a:prstGeom prst="rect">
            <a:avLst/>
          </a:prstGeom>
          <a:noFill/>
          <a:ln/>
        </p:spPr>
        <p:txBody>
          <a:bodyPr wrap="square" rtlCol="0" anchor="ctr"/>
          <a:lstStyle/>
          <a:p>
            <a:pPr marL="0" indent="0">
              <a:buNone/>
            </a:pPr>
            <a:r>
              <a:rPr lang="en-US" sz="1100" dirty="0">
                <a:solidFill>
                  <a:srgbClr val="334155"/>
                </a:solidFill>
              </a:rPr>
              <a:t>Increase in recurring problem patterns over time</a:t>
            </a:r>
            <a:endParaRPr lang="en-US" sz="1100" dirty="0"/>
          </a:p>
        </p:txBody>
      </p:sp>
      <p:sp>
        <p:nvSpPr>
          <p:cNvPr id="18" name="Shape 16"/>
          <p:cNvSpPr/>
          <p:nvPr/>
        </p:nvSpPr>
        <p:spPr>
          <a:xfrm>
            <a:off x="4206240" y="2999232"/>
            <a:ext cx="731520" cy="73152"/>
          </a:xfrm>
          <a:prstGeom prst="rect">
            <a:avLst/>
          </a:prstGeom>
          <a:solidFill>
            <a:srgbClr val="00A896"/>
          </a:solidFill>
          <a:ln/>
        </p:spPr>
      </p:sp>
      <p:sp>
        <p:nvSpPr>
          <p:cNvPr id="19" name="Shape 17"/>
          <p:cNvSpPr/>
          <p:nvPr/>
        </p:nvSpPr>
        <p:spPr>
          <a:xfrm>
            <a:off x="274320" y="3154680"/>
            <a:ext cx="2834640" cy="1691640"/>
          </a:xfrm>
          <a:prstGeom prst="rect">
            <a:avLst/>
          </a:prstGeom>
          <a:solidFill>
            <a:srgbClr val="FFFFFF"/>
          </a:solidFill>
          <a:ln/>
          <a:effectLst>
            <a:outerShdw blurRad="101600" dist="38100" dir="8100000" algn="bl" rotWithShape="0">
              <a:srgbClr val="000000">
                <a:alpha val="12000"/>
              </a:srgbClr>
            </a:outerShdw>
          </a:effectLst>
        </p:spPr>
      </p:sp>
      <p:sp>
        <p:nvSpPr>
          <p:cNvPr id="20" name="Shape 18"/>
          <p:cNvSpPr/>
          <p:nvPr/>
        </p:nvSpPr>
        <p:spPr>
          <a:xfrm>
            <a:off x="274320" y="3154680"/>
            <a:ext cx="2834640" cy="201168"/>
          </a:xfrm>
          <a:prstGeom prst="rect">
            <a:avLst/>
          </a:prstGeom>
          <a:solidFill>
            <a:srgbClr val="10B981"/>
          </a:solidFill>
          <a:ln/>
        </p:spPr>
      </p:sp>
      <p:sp>
        <p:nvSpPr>
          <p:cNvPr id="21" name="Text 19"/>
          <p:cNvSpPr/>
          <p:nvPr/>
        </p:nvSpPr>
        <p:spPr>
          <a:xfrm>
            <a:off x="365760" y="3383280"/>
            <a:ext cx="2651760" cy="384048"/>
          </a:xfrm>
          <a:prstGeom prst="rect">
            <a:avLst/>
          </a:prstGeom>
          <a:noFill/>
          <a:ln/>
        </p:spPr>
        <p:txBody>
          <a:bodyPr wrap="square" rtlCol="0" anchor="ctr"/>
          <a:lstStyle/>
          <a:p>
            <a:pPr marL="0" indent="0">
              <a:buNone/>
            </a:pPr>
            <a:r>
              <a:rPr lang="en-US" sz="1200" b="1" dirty="0">
                <a:solidFill>
                  <a:srgbClr val="0D2137"/>
                </a:solidFill>
              </a:rPr>
              <a:t>🟢  Green Zone  (0–33)</a:t>
            </a:r>
            <a:endParaRPr lang="en-US" sz="1200" dirty="0"/>
          </a:p>
        </p:txBody>
      </p:sp>
      <p:sp>
        <p:nvSpPr>
          <p:cNvPr id="22" name="Text 20"/>
          <p:cNvSpPr/>
          <p:nvPr/>
        </p:nvSpPr>
        <p:spPr>
          <a:xfrm>
            <a:off x="365760" y="3794760"/>
            <a:ext cx="2651760" cy="457200"/>
          </a:xfrm>
          <a:prstGeom prst="rect">
            <a:avLst/>
          </a:prstGeom>
          <a:noFill/>
          <a:ln/>
        </p:spPr>
        <p:txBody>
          <a:bodyPr wrap="square" rtlCol="0" anchor="ctr"/>
          <a:lstStyle/>
          <a:p>
            <a:pPr marL="0" indent="0">
              <a:buNone/>
            </a:pPr>
            <a:r>
              <a:rPr lang="en-US" sz="1000" dirty="0">
                <a:solidFill>
                  <a:srgbClr val="334155"/>
                </a:solidFill>
              </a:rPr>
              <a:t>Low Distress — Stable, customers satisfied</a:t>
            </a:r>
            <a:endParaRPr lang="en-US" sz="1000" dirty="0"/>
          </a:p>
        </p:txBody>
      </p:sp>
      <p:sp>
        <p:nvSpPr>
          <p:cNvPr id="23" name="Text 21"/>
          <p:cNvSpPr/>
          <p:nvPr/>
        </p:nvSpPr>
        <p:spPr>
          <a:xfrm>
            <a:off x="365760" y="4297680"/>
            <a:ext cx="2651760" cy="384048"/>
          </a:xfrm>
          <a:prstGeom prst="rect">
            <a:avLst/>
          </a:prstGeom>
          <a:noFill/>
          <a:ln/>
        </p:spPr>
        <p:txBody>
          <a:bodyPr wrap="square" rtlCol="0" anchor="ctr"/>
          <a:lstStyle/>
          <a:p>
            <a:pPr marL="0" indent="0">
              <a:buNone/>
            </a:pPr>
            <a:r>
              <a:rPr lang="en-US" sz="1000" b="1" dirty="0">
                <a:solidFill>
                  <a:srgbClr val="10B981"/>
                </a:solidFill>
              </a:rPr>
              <a:t>Action: Monitor normally</a:t>
            </a:r>
            <a:endParaRPr lang="en-US" sz="1000" dirty="0"/>
          </a:p>
        </p:txBody>
      </p:sp>
      <p:sp>
        <p:nvSpPr>
          <p:cNvPr id="24" name="Shape 22"/>
          <p:cNvSpPr/>
          <p:nvPr/>
        </p:nvSpPr>
        <p:spPr>
          <a:xfrm>
            <a:off x="3246120" y="3154680"/>
            <a:ext cx="2834640" cy="1691640"/>
          </a:xfrm>
          <a:prstGeom prst="rect">
            <a:avLst/>
          </a:prstGeom>
          <a:solidFill>
            <a:srgbClr val="FFFFFF"/>
          </a:solidFill>
          <a:ln/>
          <a:effectLst>
            <a:outerShdw blurRad="101600" dist="38100" dir="8100000" algn="bl" rotWithShape="0">
              <a:srgbClr val="000000">
                <a:alpha val="12000"/>
              </a:srgbClr>
            </a:outerShdw>
          </a:effectLst>
        </p:spPr>
      </p:sp>
      <p:sp>
        <p:nvSpPr>
          <p:cNvPr id="25" name="Shape 23"/>
          <p:cNvSpPr/>
          <p:nvPr/>
        </p:nvSpPr>
        <p:spPr>
          <a:xfrm>
            <a:off x="3246120" y="3154680"/>
            <a:ext cx="2834640" cy="201168"/>
          </a:xfrm>
          <a:prstGeom prst="rect">
            <a:avLst/>
          </a:prstGeom>
          <a:solidFill>
            <a:srgbClr val="F59E0B"/>
          </a:solidFill>
          <a:ln/>
        </p:spPr>
      </p:sp>
      <p:sp>
        <p:nvSpPr>
          <p:cNvPr id="26" name="Text 24"/>
          <p:cNvSpPr/>
          <p:nvPr/>
        </p:nvSpPr>
        <p:spPr>
          <a:xfrm>
            <a:off x="3337560" y="3383280"/>
            <a:ext cx="2651760" cy="384048"/>
          </a:xfrm>
          <a:prstGeom prst="rect">
            <a:avLst/>
          </a:prstGeom>
          <a:noFill/>
          <a:ln/>
        </p:spPr>
        <p:txBody>
          <a:bodyPr wrap="square" rtlCol="0" anchor="ctr"/>
          <a:lstStyle/>
          <a:p>
            <a:pPr marL="0" indent="0">
              <a:buNone/>
            </a:pPr>
            <a:r>
              <a:rPr lang="en-US" sz="1200" b="1" dirty="0">
                <a:solidFill>
                  <a:srgbClr val="0D2137"/>
                </a:solidFill>
              </a:rPr>
              <a:t>🟡  Yellow Zone  (34–66)</a:t>
            </a:r>
            <a:endParaRPr lang="en-US" sz="1200" dirty="0"/>
          </a:p>
        </p:txBody>
      </p:sp>
      <p:sp>
        <p:nvSpPr>
          <p:cNvPr id="27" name="Text 25"/>
          <p:cNvSpPr/>
          <p:nvPr/>
        </p:nvSpPr>
        <p:spPr>
          <a:xfrm>
            <a:off x="3337560" y="3794760"/>
            <a:ext cx="2651760" cy="457200"/>
          </a:xfrm>
          <a:prstGeom prst="rect">
            <a:avLst/>
          </a:prstGeom>
          <a:noFill/>
          <a:ln/>
        </p:spPr>
        <p:txBody>
          <a:bodyPr wrap="square" rtlCol="0" anchor="ctr"/>
          <a:lstStyle/>
          <a:p>
            <a:pPr marL="0" indent="0">
              <a:buNone/>
            </a:pPr>
            <a:r>
              <a:rPr lang="en-US" sz="1000" dirty="0">
                <a:solidFill>
                  <a:srgbClr val="334155"/>
                </a:solidFill>
              </a:rPr>
              <a:t>Medium Distress — Issues emerging, complaints rising</a:t>
            </a:r>
            <a:endParaRPr lang="en-US" sz="1000" dirty="0"/>
          </a:p>
        </p:txBody>
      </p:sp>
      <p:sp>
        <p:nvSpPr>
          <p:cNvPr id="28" name="Text 26"/>
          <p:cNvSpPr/>
          <p:nvPr/>
        </p:nvSpPr>
        <p:spPr>
          <a:xfrm>
            <a:off x="3337560" y="4297680"/>
            <a:ext cx="2651760" cy="384048"/>
          </a:xfrm>
          <a:prstGeom prst="rect">
            <a:avLst/>
          </a:prstGeom>
          <a:noFill/>
          <a:ln/>
        </p:spPr>
        <p:txBody>
          <a:bodyPr wrap="square" rtlCol="0" anchor="ctr"/>
          <a:lstStyle/>
          <a:p>
            <a:pPr marL="0" indent="0">
              <a:buNone/>
            </a:pPr>
            <a:r>
              <a:rPr lang="en-US" sz="1000" b="1" dirty="0">
                <a:solidFill>
                  <a:srgbClr val="F59E0B"/>
                </a:solidFill>
              </a:rPr>
              <a:t>Action: Request improvement plan</a:t>
            </a:r>
            <a:endParaRPr lang="en-US" sz="1000" dirty="0"/>
          </a:p>
        </p:txBody>
      </p:sp>
      <p:sp>
        <p:nvSpPr>
          <p:cNvPr id="29" name="Shape 27"/>
          <p:cNvSpPr/>
          <p:nvPr/>
        </p:nvSpPr>
        <p:spPr>
          <a:xfrm>
            <a:off x="6217920" y="3154680"/>
            <a:ext cx="2834640" cy="1691640"/>
          </a:xfrm>
          <a:prstGeom prst="rect">
            <a:avLst/>
          </a:prstGeom>
          <a:solidFill>
            <a:srgbClr val="FFFFFF"/>
          </a:solidFill>
          <a:ln/>
          <a:effectLst>
            <a:outerShdw blurRad="101600" dist="38100" dir="8100000" algn="bl" rotWithShape="0">
              <a:srgbClr val="000000">
                <a:alpha val="12000"/>
              </a:srgbClr>
            </a:outerShdw>
          </a:effectLst>
        </p:spPr>
      </p:sp>
      <p:sp>
        <p:nvSpPr>
          <p:cNvPr id="30" name="Shape 28"/>
          <p:cNvSpPr/>
          <p:nvPr/>
        </p:nvSpPr>
        <p:spPr>
          <a:xfrm>
            <a:off x="6217920" y="3154680"/>
            <a:ext cx="2834640" cy="201168"/>
          </a:xfrm>
          <a:prstGeom prst="rect">
            <a:avLst/>
          </a:prstGeom>
          <a:solidFill>
            <a:srgbClr val="EF4444"/>
          </a:solidFill>
          <a:ln/>
        </p:spPr>
      </p:sp>
      <p:sp>
        <p:nvSpPr>
          <p:cNvPr id="31" name="Text 29"/>
          <p:cNvSpPr/>
          <p:nvPr/>
        </p:nvSpPr>
        <p:spPr>
          <a:xfrm>
            <a:off x="6309360" y="3383280"/>
            <a:ext cx="2651760" cy="384048"/>
          </a:xfrm>
          <a:prstGeom prst="rect">
            <a:avLst/>
          </a:prstGeom>
          <a:noFill/>
          <a:ln/>
        </p:spPr>
        <p:txBody>
          <a:bodyPr wrap="square" rtlCol="0" anchor="ctr"/>
          <a:lstStyle/>
          <a:p>
            <a:pPr marL="0" indent="0">
              <a:buNone/>
            </a:pPr>
            <a:r>
              <a:rPr lang="en-US" sz="1200" b="1" dirty="0">
                <a:solidFill>
                  <a:srgbClr val="0D2137"/>
                </a:solidFill>
              </a:rPr>
              <a:t>🔴  Red Zone  (67–100)</a:t>
            </a:r>
            <a:endParaRPr lang="en-US" sz="1200" dirty="0"/>
          </a:p>
        </p:txBody>
      </p:sp>
      <p:sp>
        <p:nvSpPr>
          <p:cNvPr id="32" name="Text 30"/>
          <p:cNvSpPr/>
          <p:nvPr/>
        </p:nvSpPr>
        <p:spPr>
          <a:xfrm>
            <a:off x="6309360" y="3794760"/>
            <a:ext cx="2651760" cy="457200"/>
          </a:xfrm>
          <a:prstGeom prst="rect">
            <a:avLst/>
          </a:prstGeom>
          <a:noFill/>
          <a:ln/>
        </p:spPr>
        <p:txBody>
          <a:bodyPr wrap="square" rtlCol="0" anchor="ctr"/>
          <a:lstStyle/>
          <a:p>
            <a:pPr marL="0" indent="0">
              <a:buNone/>
            </a:pPr>
            <a:r>
              <a:rPr lang="en-US" sz="1000" dirty="0">
                <a:solidFill>
                  <a:srgbClr val="334155"/>
                </a:solidFill>
              </a:rPr>
              <a:t>High Distress — Crisis zone, urgent issues</a:t>
            </a:r>
            <a:endParaRPr lang="en-US" sz="1000" dirty="0"/>
          </a:p>
        </p:txBody>
      </p:sp>
      <p:sp>
        <p:nvSpPr>
          <p:cNvPr id="33" name="Text 31"/>
          <p:cNvSpPr/>
          <p:nvPr/>
        </p:nvSpPr>
        <p:spPr>
          <a:xfrm>
            <a:off x="6309360" y="4297680"/>
            <a:ext cx="2651760" cy="384048"/>
          </a:xfrm>
          <a:prstGeom prst="rect">
            <a:avLst/>
          </a:prstGeom>
          <a:noFill/>
          <a:ln/>
        </p:spPr>
        <p:txBody>
          <a:bodyPr wrap="square" rtlCol="0" anchor="ctr"/>
          <a:lstStyle/>
          <a:p>
            <a:pPr marL="0" indent="0">
              <a:buNone/>
            </a:pPr>
            <a:r>
              <a:rPr lang="en-US" sz="1000" b="1" dirty="0">
                <a:solidFill>
                  <a:srgbClr val="EF4444"/>
                </a:solidFill>
              </a:rPr>
              <a:t>Action: Emergency intervention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5C6B"/>
          </a:solidFill>
          <a:ln/>
        </p:spPr>
      </p:sp>
      <p:sp>
        <p:nvSpPr>
          <p:cNvPr id="3" name="Text 1"/>
          <p:cNvSpPr/>
          <p:nvPr/>
        </p:nvSpPr>
        <p:spPr>
          <a:xfrm>
            <a:off x="365760" y="0"/>
            <a:ext cx="8229600" cy="502920"/>
          </a:xfrm>
          <a:prstGeom prst="rect">
            <a:avLst/>
          </a:prstGeom>
          <a:noFill/>
          <a:ln/>
        </p:spPr>
        <p:txBody>
          <a:bodyPr wrap="square" rtlCol="0" anchor="ctr"/>
          <a:lstStyle/>
          <a:p>
            <a:pPr marL="0" indent="0">
              <a:buNone/>
            </a:pPr>
            <a:r>
              <a:rPr lang="en-US" sz="1100" b="1" kern="0" spc="300" dirty="0">
                <a:solidFill>
                  <a:srgbClr val="02C39A"/>
                </a:solidFill>
              </a:rPr>
              <a:t>FORECASTING &amp; TREND ANALYSIS</a:t>
            </a:r>
            <a:endParaRPr lang="en-US" sz="1100" dirty="0"/>
          </a:p>
        </p:txBody>
      </p:sp>
      <p:sp>
        <p:nvSpPr>
          <p:cNvPr id="4" name="Text 2"/>
          <p:cNvSpPr/>
          <p:nvPr/>
        </p:nvSpPr>
        <p:spPr>
          <a:xfrm>
            <a:off x="365760" y="475488"/>
            <a:ext cx="8229600" cy="50292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Early Warning Signals &amp; Future Risk Projections</a:t>
            </a:r>
            <a:endParaRPr lang="en-US" sz="2000" dirty="0"/>
          </a:p>
        </p:txBody>
      </p:sp>
      <p:sp>
        <p:nvSpPr>
          <p:cNvPr id="5" name="Shape 3"/>
          <p:cNvSpPr/>
          <p:nvPr/>
        </p:nvSpPr>
        <p:spPr>
          <a:xfrm>
            <a:off x="274320" y="1097280"/>
            <a:ext cx="8595360" cy="804672"/>
          </a:xfrm>
          <a:prstGeom prst="rect">
            <a:avLst/>
          </a:prstGeom>
          <a:solidFill>
            <a:srgbClr val="0A5C6B">
              <a:alpha val="70000"/>
            </a:srgbClr>
          </a:solidFill>
          <a:ln/>
        </p:spPr>
      </p:sp>
      <p:sp>
        <p:nvSpPr>
          <p:cNvPr id="6" name="Shape 4"/>
          <p:cNvSpPr/>
          <p:nvPr/>
        </p:nvSpPr>
        <p:spPr>
          <a:xfrm>
            <a:off x="274320" y="1097280"/>
            <a:ext cx="91440" cy="804672"/>
          </a:xfrm>
          <a:prstGeom prst="rect">
            <a:avLst/>
          </a:prstGeom>
          <a:solidFill>
            <a:srgbClr val="10B981"/>
          </a:solidFill>
          <a:ln/>
        </p:spPr>
      </p:sp>
      <p:sp>
        <p:nvSpPr>
          <p:cNvPr id="7" name="Text 5"/>
          <p:cNvSpPr/>
          <p:nvPr/>
        </p:nvSpPr>
        <p:spPr>
          <a:xfrm>
            <a:off x="475488" y="1143000"/>
            <a:ext cx="2286000" cy="320040"/>
          </a:xfrm>
          <a:prstGeom prst="rect">
            <a:avLst/>
          </a:prstGeom>
          <a:noFill/>
          <a:ln/>
        </p:spPr>
        <p:txBody>
          <a:bodyPr wrap="square" rtlCol="0" anchor="ctr"/>
          <a:lstStyle/>
          <a:p>
            <a:pPr marL="0" indent="0">
              <a:buNone/>
            </a:pPr>
            <a:r>
              <a:rPr lang="en-US" sz="1000" b="1" dirty="0">
                <a:solidFill>
                  <a:srgbClr val="CBD5E1"/>
                </a:solidFill>
              </a:rPr>
              <a:t>Jan 2023 – Mid 2024</a:t>
            </a:r>
            <a:endParaRPr lang="en-US" sz="1000" dirty="0"/>
          </a:p>
        </p:txBody>
      </p:sp>
      <p:sp>
        <p:nvSpPr>
          <p:cNvPr id="8" name="Text 6"/>
          <p:cNvSpPr/>
          <p:nvPr/>
        </p:nvSpPr>
        <p:spPr>
          <a:xfrm>
            <a:off x="2834640" y="1143000"/>
            <a:ext cx="2011680" cy="320040"/>
          </a:xfrm>
          <a:prstGeom prst="rect">
            <a:avLst/>
          </a:prstGeom>
          <a:noFill/>
          <a:ln/>
        </p:spPr>
        <p:txBody>
          <a:bodyPr wrap="square" rtlCol="0" anchor="ctr"/>
          <a:lstStyle/>
          <a:p>
            <a:pPr marL="0" indent="0">
              <a:buNone/>
            </a:pPr>
            <a:r>
              <a:rPr lang="en-US" sz="1200" b="1" dirty="0">
                <a:solidFill>
                  <a:srgbClr val="FFFFFF"/>
                </a:solidFill>
              </a:rPr>
              <a:t>Baseline Stability</a:t>
            </a:r>
            <a:endParaRPr lang="en-US" sz="1200" dirty="0"/>
          </a:p>
        </p:txBody>
      </p:sp>
      <p:sp>
        <p:nvSpPr>
          <p:cNvPr id="9" name="Text 7"/>
          <p:cNvSpPr/>
          <p:nvPr/>
        </p:nvSpPr>
        <p:spPr>
          <a:xfrm>
            <a:off x="4937760" y="1170432"/>
            <a:ext cx="3749040" cy="640080"/>
          </a:xfrm>
          <a:prstGeom prst="rect">
            <a:avLst/>
          </a:prstGeom>
          <a:noFill/>
          <a:ln/>
        </p:spPr>
        <p:txBody>
          <a:bodyPr wrap="square" rtlCol="0" anchor="ctr"/>
          <a:lstStyle/>
          <a:p>
            <a:pPr marL="0" indent="0">
              <a:buNone/>
            </a:pPr>
            <a:r>
              <a:rPr lang="en-US" sz="1000" dirty="0">
                <a:solidFill>
                  <a:srgbClr val="CBD5E1"/>
                </a:solidFill>
              </a:rPr>
              <a:t>Complaint activity predictable and stable. Normal operating baseline.</a:t>
            </a:r>
            <a:endParaRPr lang="en-US" sz="1000" dirty="0"/>
          </a:p>
        </p:txBody>
      </p:sp>
      <p:sp>
        <p:nvSpPr>
          <p:cNvPr id="10" name="Shape 8"/>
          <p:cNvSpPr/>
          <p:nvPr/>
        </p:nvSpPr>
        <p:spPr>
          <a:xfrm>
            <a:off x="274320" y="2048256"/>
            <a:ext cx="8595360" cy="804672"/>
          </a:xfrm>
          <a:prstGeom prst="rect">
            <a:avLst/>
          </a:prstGeom>
          <a:solidFill>
            <a:srgbClr val="0A5C6B">
              <a:alpha val="70000"/>
            </a:srgbClr>
          </a:solidFill>
          <a:ln/>
        </p:spPr>
      </p:sp>
      <p:sp>
        <p:nvSpPr>
          <p:cNvPr id="11" name="Shape 9"/>
          <p:cNvSpPr/>
          <p:nvPr/>
        </p:nvSpPr>
        <p:spPr>
          <a:xfrm>
            <a:off x="274320" y="2048256"/>
            <a:ext cx="91440" cy="804672"/>
          </a:xfrm>
          <a:prstGeom prst="rect">
            <a:avLst/>
          </a:prstGeom>
          <a:solidFill>
            <a:srgbClr val="F59E0B"/>
          </a:solidFill>
          <a:ln/>
        </p:spPr>
      </p:sp>
      <p:sp>
        <p:nvSpPr>
          <p:cNvPr id="12" name="Text 10"/>
          <p:cNvSpPr/>
          <p:nvPr/>
        </p:nvSpPr>
        <p:spPr>
          <a:xfrm>
            <a:off x="475488" y="2093976"/>
            <a:ext cx="2286000" cy="320040"/>
          </a:xfrm>
          <a:prstGeom prst="rect">
            <a:avLst/>
          </a:prstGeom>
          <a:noFill/>
          <a:ln/>
        </p:spPr>
        <p:txBody>
          <a:bodyPr wrap="square" rtlCol="0" anchor="ctr"/>
          <a:lstStyle/>
          <a:p>
            <a:pPr marL="0" indent="0">
              <a:buNone/>
            </a:pPr>
            <a:r>
              <a:rPr lang="en-US" sz="1000" b="1" dirty="0">
                <a:solidFill>
                  <a:srgbClr val="CBD5E1"/>
                </a:solidFill>
              </a:rPr>
              <a:t>Late 2024 – 2025</a:t>
            </a:r>
            <a:endParaRPr lang="en-US" sz="1000" dirty="0"/>
          </a:p>
        </p:txBody>
      </p:sp>
      <p:sp>
        <p:nvSpPr>
          <p:cNvPr id="13" name="Text 11"/>
          <p:cNvSpPr/>
          <p:nvPr/>
        </p:nvSpPr>
        <p:spPr>
          <a:xfrm>
            <a:off x="2834640" y="2093976"/>
            <a:ext cx="2011680" cy="320040"/>
          </a:xfrm>
          <a:prstGeom prst="rect">
            <a:avLst/>
          </a:prstGeom>
          <a:noFill/>
          <a:ln/>
        </p:spPr>
        <p:txBody>
          <a:bodyPr wrap="square" rtlCol="0" anchor="ctr"/>
          <a:lstStyle/>
          <a:p>
            <a:pPr marL="0" indent="0">
              <a:buNone/>
            </a:pPr>
            <a:r>
              <a:rPr lang="en-US" sz="1200" b="1" dirty="0">
                <a:solidFill>
                  <a:srgbClr val="FFFFFF"/>
                </a:solidFill>
              </a:rPr>
              <a:t>Emerging Friction</a:t>
            </a:r>
            <a:endParaRPr lang="en-US" sz="1200" dirty="0"/>
          </a:p>
        </p:txBody>
      </p:sp>
      <p:sp>
        <p:nvSpPr>
          <p:cNvPr id="14" name="Text 12"/>
          <p:cNvSpPr/>
          <p:nvPr/>
        </p:nvSpPr>
        <p:spPr>
          <a:xfrm>
            <a:off x="4937760" y="2121408"/>
            <a:ext cx="3749040" cy="640080"/>
          </a:xfrm>
          <a:prstGeom prst="rect">
            <a:avLst/>
          </a:prstGeom>
          <a:noFill/>
          <a:ln/>
        </p:spPr>
        <p:txBody>
          <a:bodyPr wrap="square" rtlCol="0" anchor="ctr"/>
          <a:lstStyle/>
          <a:p>
            <a:pPr marL="0" indent="0">
              <a:buNone/>
            </a:pPr>
            <a:r>
              <a:rPr lang="en-US" sz="1000" dirty="0">
                <a:solidFill>
                  <a:srgbClr val="CBD5E1"/>
                </a:solidFill>
              </a:rPr>
              <a:t>Dissatisfaction begins rising steadily. Signals of systemic operational friction.</a:t>
            </a:r>
            <a:endParaRPr lang="en-US" sz="1000" dirty="0"/>
          </a:p>
        </p:txBody>
      </p:sp>
      <p:sp>
        <p:nvSpPr>
          <p:cNvPr id="15" name="Shape 13"/>
          <p:cNvSpPr/>
          <p:nvPr/>
        </p:nvSpPr>
        <p:spPr>
          <a:xfrm>
            <a:off x="274320" y="2999232"/>
            <a:ext cx="8595360" cy="804672"/>
          </a:xfrm>
          <a:prstGeom prst="rect">
            <a:avLst/>
          </a:prstGeom>
          <a:solidFill>
            <a:srgbClr val="0A5C6B">
              <a:alpha val="70000"/>
            </a:srgbClr>
          </a:solidFill>
          <a:ln/>
        </p:spPr>
      </p:sp>
      <p:sp>
        <p:nvSpPr>
          <p:cNvPr id="16" name="Shape 14"/>
          <p:cNvSpPr/>
          <p:nvPr/>
        </p:nvSpPr>
        <p:spPr>
          <a:xfrm>
            <a:off x="274320" y="2999232"/>
            <a:ext cx="91440" cy="804672"/>
          </a:xfrm>
          <a:prstGeom prst="rect">
            <a:avLst/>
          </a:prstGeom>
          <a:solidFill>
            <a:srgbClr val="EF4444"/>
          </a:solidFill>
          <a:ln/>
        </p:spPr>
      </p:sp>
      <p:sp>
        <p:nvSpPr>
          <p:cNvPr id="17" name="Text 15"/>
          <p:cNvSpPr/>
          <p:nvPr/>
        </p:nvSpPr>
        <p:spPr>
          <a:xfrm>
            <a:off x="475488" y="3044952"/>
            <a:ext cx="2286000" cy="320040"/>
          </a:xfrm>
          <a:prstGeom prst="rect">
            <a:avLst/>
          </a:prstGeom>
          <a:noFill/>
          <a:ln/>
        </p:spPr>
        <p:txBody>
          <a:bodyPr wrap="square" rtlCol="0" anchor="ctr"/>
          <a:lstStyle/>
          <a:p>
            <a:pPr marL="0" indent="0">
              <a:buNone/>
            </a:pPr>
            <a:r>
              <a:rPr lang="en-US" sz="1000" b="1" dirty="0">
                <a:solidFill>
                  <a:srgbClr val="CBD5E1"/>
                </a:solidFill>
              </a:rPr>
              <a:t>April 2026</a:t>
            </a:r>
            <a:endParaRPr lang="en-US" sz="1000" dirty="0"/>
          </a:p>
        </p:txBody>
      </p:sp>
      <p:sp>
        <p:nvSpPr>
          <p:cNvPr id="18" name="Text 16"/>
          <p:cNvSpPr/>
          <p:nvPr/>
        </p:nvSpPr>
        <p:spPr>
          <a:xfrm>
            <a:off x="2834640" y="3044952"/>
            <a:ext cx="2011680" cy="320040"/>
          </a:xfrm>
          <a:prstGeom prst="rect">
            <a:avLst/>
          </a:prstGeom>
          <a:noFill/>
          <a:ln/>
        </p:spPr>
        <p:txBody>
          <a:bodyPr wrap="square" rtlCol="0" anchor="ctr"/>
          <a:lstStyle/>
          <a:p>
            <a:pPr marL="0" indent="0">
              <a:buNone/>
            </a:pPr>
            <a:r>
              <a:rPr lang="en-US" sz="1200" b="1" dirty="0">
                <a:solidFill>
                  <a:srgbClr val="FFFFFF"/>
                </a:solidFill>
              </a:rPr>
              <a:t>Critical Flashpoint</a:t>
            </a:r>
            <a:endParaRPr lang="en-US" sz="1200" dirty="0"/>
          </a:p>
        </p:txBody>
      </p:sp>
      <p:sp>
        <p:nvSpPr>
          <p:cNvPr id="19" name="Text 17"/>
          <p:cNvSpPr/>
          <p:nvPr/>
        </p:nvSpPr>
        <p:spPr>
          <a:xfrm>
            <a:off x="4937760" y="3072384"/>
            <a:ext cx="3749040" cy="640080"/>
          </a:xfrm>
          <a:prstGeom prst="rect">
            <a:avLst/>
          </a:prstGeom>
          <a:noFill/>
          <a:ln/>
        </p:spPr>
        <p:txBody>
          <a:bodyPr wrap="square" rtlCol="0" anchor="ctr"/>
          <a:lstStyle/>
          <a:p>
            <a:pPr marL="0" indent="0">
              <a:buNone/>
            </a:pPr>
            <a:r>
              <a:rPr lang="en-US" sz="1000" dirty="0">
                <a:solidFill>
                  <a:srgbClr val="CBD5E1"/>
                </a:solidFill>
              </a:rPr>
              <a:t>Severe spike — major system failure or disruptive event detected. Highest z-score recorded.</a:t>
            </a:r>
            <a:endParaRPr lang="en-US" sz="1000" dirty="0"/>
          </a:p>
        </p:txBody>
      </p:sp>
      <p:sp>
        <p:nvSpPr>
          <p:cNvPr id="20" name="Shape 18"/>
          <p:cNvSpPr/>
          <p:nvPr/>
        </p:nvSpPr>
        <p:spPr>
          <a:xfrm>
            <a:off x="274320" y="3950208"/>
            <a:ext cx="8595360" cy="804672"/>
          </a:xfrm>
          <a:prstGeom prst="rect">
            <a:avLst/>
          </a:prstGeom>
          <a:solidFill>
            <a:srgbClr val="0A5C6B">
              <a:alpha val="70000"/>
            </a:srgbClr>
          </a:solidFill>
          <a:ln/>
        </p:spPr>
      </p:sp>
      <p:sp>
        <p:nvSpPr>
          <p:cNvPr id="21" name="Shape 19"/>
          <p:cNvSpPr/>
          <p:nvPr/>
        </p:nvSpPr>
        <p:spPr>
          <a:xfrm>
            <a:off x="274320" y="3950208"/>
            <a:ext cx="91440" cy="804672"/>
          </a:xfrm>
          <a:prstGeom prst="rect">
            <a:avLst/>
          </a:prstGeom>
          <a:solidFill>
            <a:srgbClr val="9333EA"/>
          </a:solidFill>
          <a:ln/>
        </p:spPr>
      </p:sp>
      <p:sp>
        <p:nvSpPr>
          <p:cNvPr id="22" name="Text 20"/>
          <p:cNvSpPr/>
          <p:nvPr/>
        </p:nvSpPr>
        <p:spPr>
          <a:xfrm>
            <a:off x="475488" y="3995928"/>
            <a:ext cx="2286000" cy="320040"/>
          </a:xfrm>
          <a:prstGeom prst="rect">
            <a:avLst/>
          </a:prstGeom>
          <a:noFill/>
          <a:ln/>
        </p:spPr>
        <p:txBody>
          <a:bodyPr wrap="square" rtlCol="0" anchor="ctr"/>
          <a:lstStyle/>
          <a:p>
            <a:pPr marL="0" indent="0">
              <a:buNone/>
            </a:pPr>
            <a:r>
              <a:rPr lang="en-US" sz="1000" b="1" dirty="0">
                <a:solidFill>
                  <a:srgbClr val="CBD5E1"/>
                </a:solidFill>
              </a:rPr>
              <a:t>Post-April 2026</a:t>
            </a:r>
            <a:endParaRPr lang="en-US" sz="1000" dirty="0"/>
          </a:p>
        </p:txBody>
      </p:sp>
      <p:sp>
        <p:nvSpPr>
          <p:cNvPr id="23" name="Text 21"/>
          <p:cNvSpPr/>
          <p:nvPr/>
        </p:nvSpPr>
        <p:spPr>
          <a:xfrm>
            <a:off x="2834640" y="3995928"/>
            <a:ext cx="2011680" cy="320040"/>
          </a:xfrm>
          <a:prstGeom prst="rect">
            <a:avLst/>
          </a:prstGeom>
          <a:noFill/>
          <a:ln/>
        </p:spPr>
        <p:txBody>
          <a:bodyPr wrap="square" rtlCol="0" anchor="ctr"/>
          <a:lstStyle/>
          <a:p>
            <a:pPr marL="0" indent="0">
              <a:buNone/>
            </a:pPr>
            <a:r>
              <a:rPr lang="en-US" sz="1200" b="1" dirty="0">
                <a:solidFill>
                  <a:srgbClr val="FFFFFF"/>
                </a:solidFill>
              </a:rPr>
              <a:t>Sustained Elevated Risk</a:t>
            </a:r>
            <a:endParaRPr lang="en-US" sz="1200" dirty="0"/>
          </a:p>
        </p:txBody>
      </p:sp>
      <p:sp>
        <p:nvSpPr>
          <p:cNvPr id="24" name="Text 22"/>
          <p:cNvSpPr/>
          <p:nvPr/>
        </p:nvSpPr>
        <p:spPr>
          <a:xfrm>
            <a:off x="4937760" y="4023360"/>
            <a:ext cx="3749040" cy="640080"/>
          </a:xfrm>
          <a:prstGeom prst="rect">
            <a:avLst/>
          </a:prstGeom>
          <a:noFill/>
          <a:ln/>
        </p:spPr>
        <p:txBody>
          <a:bodyPr wrap="square" rtlCol="0" anchor="ctr"/>
          <a:lstStyle/>
          <a:p>
            <a:pPr marL="0" indent="0">
              <a:buNone/>
            </a:pPr>
            <a:r>
              <a:rPr lang="en-US" sz="1000" dirty="0">
                <a:solidFill>
                  <a:srgbClr val="CBD5E1"/>
                </a:solidFill>
              </a:rPr>
              <a:t>Complaint levels remain above baseline. Issue persists or has lasting effects.</a:t>
            </a:r>
            <a:endParaRPr lang="en-US" sz="1000" dirty="0"/>
          </a:p>
        </p:txBody>
      </p:sp>
      <p:sp>
        <p:nvSpPr>
          <p:cNvPr id="25" name="Text 23"/>
          <p:cNvSpPr/>
          <p:nvPr/>
        </p:nvSpPr>
        <p:spPr>
          <a:xfrm>
            <a:off x="274320" y="4800600"/>
            <a:ext cx="8595360" cy="320040"/>
          </a:xfrm>
          <a:prstGeom prst="rect">
            <a:avLst/>
          </a:prstGeom>
          <a:noFill/>
          <a:ln/>
        </p:spPr>
        <p:txBody>
          <a:bodyPr wrap="square" rtlCol="0" anchor="ctr"/>
          <a:lstStyle/>
          <a:p>
            <a:pPr marL="0" indent="0" algn="ctr">
              <a:buNone/>
            </a:pPr>
            <a:r>
              <a:rPr lang="en-US" sz="1100" i="1" dirty="0">
                <a:solidFill>
                  <a:srgbClr val="02C39A"/>
                </a:solidFill>
              </a:rPr>
              <a:t>Pesa Salama's forecasting model enables proactive intervention — identifying risks before they escalate into crises.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137"/>
          </a:solidFill>
          <a:ln/>
        </p:spPr>
      </p:sp>
      <p:sp>
        <p:nvSpPr>
          <p:cNvPr id="3" name="Text 1"/>
          <p:cNvSpPr/>
          <p:nvPr/>
        </p:nvSpPr>
        <p:spPr>
          <a:xfrm>
            <a:off x="365760" y="0"/>
            <a:ext cx="8229600" cy="502920"/>
          </a:xfrm>
          <a:prstGeom prst="rect">
            <a:avLst/>
          </a:prstGeom>
          <a:noFill/>
          <a:ln/>
        </p:spPr>
        <p:txBody>
          <a:bodyPr wrap="square" rtlCol="0" anchor="ctr"/>
          <a:lstStyle/>
          <a:p>
            <a:pPr marL="0" indent="0">
              <a:buNone/>
            </a:pPr>
            <a:r>
              <a:rPr lang="en-US" sz="1100" b="1" kern="0" spc="300" dirty="0">
                <a:solidFill>
                  <a:srgbClr val="02C39A"/>
                </a:solidFill>
              </a:rPr>
              <a:t>RECOMMENDATIONS</a:t>
            </a:r>
            <a:endParaRPr lang="en-US" sz="1100" dirty="0"/>
          </a:p>
        </p:txBody>
      </p:sp>
      <p:sp>
        <p:nvSpPr>
          <p:cNvPr id="4" name="Text 2"/>
          <p:cNvSpPr/>
          <p:nvPr/>
        </p:nvSpPr>
        <p:spPr>
          <a:xfrm>
            <a:off x="365760" y="475488"/>
            <a:ext cx="8229600" cy="50292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Four Strategic Actions for Stakeholders</a:t>
            </a:r>
            <a:endParaRPr lang="en-US" sz="2000" dirty="0"/>
          </a:p>
        </p:txBody>
      </p:sp>
      <p:sp>
        <p:nvSpPr>
          <p:cNvPr id="5" name="Shape 3"/>
          <p:cNvSpPr/>
          <p:nvPr/>
        </p:nvSpPr>
        <p:spPr>
          <a:xfrm>
            <a:off x="274320" y="1143000"/>
            <a:ext cx="4114800" cy="150876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411480" y="1307592"/>
            <a:ext cx="502920" cy="502920"/>
          </a:xfrm>
          <a:prstGeom prst="ellipse">
            <a:avLst/>
          </a:prstGeom>
          <a:solidFill>
            <a:srgbClr val="00A896"/>
          </a:solidFill>
          <a:ln/>
        </p:spPr>
      </p:sp>
      <p:sp>
        <p:nvSpPr>
          <p:cNvPr id="7" name="Text 5"/>
          <p:cNvSpPr/>
          <p:nvPr/>
        </p:nvSpPr>
        <p:spPr>
          <a:xfrm>
            <a:off x="411480" y="1307592"/>
            <a:ext cx="502920" cy="502920"/>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8" name="Text 6"/>
          <p:cNvSpPr/>
          <p:nvPr/>
        </p:nvSpPr>
        <p:spPr>
          <a:xfrm>
            <a:off x="1051560" y="1252728"/>
            <a:ext cx="3337560" cy="502920"/>
          </a:xfrm>
          <a:prstGeom prst="rect">
            <a:avLst/>
          </a:prstGeom>
          <a:noFill/>
          <a:ln/>
        </p:spPr>
        <p:txBody>
          <a:bodyPr wrap="square" rtlCol="0" anchor="ctr"/>
          <a:lstStyle/>
          <a:p>
            <a:pPr marL="0" indent="0">
              <a:buNone/>
            </a:pPr>
            <a:r>
              <a:rPr lang="en-US" sz="1200" b="1" dirty="0">
                <a:solidFill>
                  <a:srgbClr val="0D2137"/>
                </a:solidFill>
              </a:rPr>
              <a:t>Deploy Pesa Salama as an Early-Warning System</a:t>
            </a:r>
            <a:endParaRPr lang="en-US" sz="1200" dirty="0"/>
          </a:p>
        </p:txBody>
      </p:sp>
      <p:sp>
        <p:nvSpPr>
          <p:cNvPr id="9" name="Text 7"/>
          <p:cNvSpPr/>
          <p:nvPr/>
        </p:nvSpPr>
        <p:spPr>
          <a:xfrm>
            <a:off x="411480" y="1837944"/>
            <a:ext cx="3977640" cy="960120"/>
          </a:xfrm>
          <a:prstGeom prst="rect">
            <a:avLst/>
          </a:prstGeom>
          <a:noFill/>
          <a:ln/>
        </p:spPr>
        <p:txBody>
          <a:bodyPr wrap="square" rtlCol="0" anchor="ctr"/>
          <a:lstStyle/>
          <a:p>
            <a:pPr marL="0" indent="0">
              <a:buNone/>
            </a:pPr>
            <a:r>
              <a:rPr lang="en-US" sz="1100" dirty="0">
                <a:solidFill>
                  <a:srgbClr val="334155"/>
                </a:solidFill>
              </a:rPr>
              <a:t>Use real-time monitoring and the FDI to identify emerging risks before they escalate into service disruptions, fraud incidents, or reputational crises.</a:t>
            </a:r>
            <a:endParaRPr lang="en-US" sz="1100" dirty="0"/>
          </a:p>
        </p:txBody>
      </p:sp>
      <p:sp>
        <p:nvSpPr>
          <p:cNvPr id="10" name="Shape 8"/>
          <p:cNvSpPr/>
          <p:nvPr/>
        </p:nvSpPr>
        <p:spPr>
          <a:xfrm>
            <a:off x="137160" y="2830068"/>
            <a:ext cx="4251960" cy="1517904"/>
          </a:xfrm>
          <a:prstGeom prst="rect">
            <a:avLst/>
          </a:prstGeom>
          <a:solidFill>
            <a:srgbClr val="FFFFFF"/>
          </a:solidFill>
          <a:ln/>
          <a:effectLst>
            <a:outerShdw blurRad="101600" dist="38100" dir="8100000" algn="bl" rotWithShape="0">
              <a:srgbClr val="000000">
                <a:alpha val="12000"/>
              </a:srgbClr>
            </a:outerShdw>
          </a:effectLst>
        </p:spPr>
      </p:sp>
      <p:sp>
        <p:nvSpPr>
          <p:cNvPr id="11" name="Shape 9"/>
          <p:cNvSpPr/>
          <p:nvPr/>
        </p:nvSpPr>
        <p:spPr>
          <a:xfrm>
            <a:off x="400050" y="2999232"/>
            <a:ext cx="502920" cy="502920"/>
          </a:xfrm>
          <a:prstGeom prst="ellipse">
            <a:avLst/>
          </a:prstGeom>
          <a:solidFill>
            <a:srgbClr val="F59E0B"/>
          </a:solidFill>
          <a:ln/>
        </p:spPr>
      </p:sp>
      <p:sp>
        <p:nvSpPr>
          <p:cNvPr id="12" name="Text 10"/>
          <p:cNvSpPr/>
          <p:nvPr/>
        </p:nvSpPr>
        <p:spPr>
          <a:xfrm>
            <a:off x="388620" y="3034859"/>
            <a:ext cx="502920" cy="502920"/>
          </a:xfrm>
          <a:prstGeom prst="rect">
            <a:avLst/>
          </a:prstGeom>
          <a:noFill/>
          <a:ln/>
        </p:spPr>
        <p:txBody>
          <a:bodyPr wrap="square" rtlCol="0" anchor="ctr"/>
          <a:lstStyle/>
          <a:p>
            <a:pPr marL="0" indent="0" algn="ctr">
              <a:buNone/>
            </a:pPr>
            <a:r>
              <a:rPr lang="en-US" sz="1400" b="1" dirty="0">
                <a:solidFill>
                  <a:srgbClr val="FFFFFF"/>
                </a:solidFill>
              </a:rPr>
              <a:t>2</a:t>
            </a:r>
            <a:endParaRPr lang="en-US" sz="1400" dirty="0"/>
          </a:p>
        </p:txBody>
      </p:sp>
      <p:sp>
        <p:nvSpPr>
          <p:cNvPr id="13" name="Text 11"/>
          <p:cNvSpPr/>
          <p:nvPr/>
        </p:nvSpPr>
        <p:spPr>
          <a:xfrm>
            <a:off x="914400" y="2988837"/>
            <a:ext cx="3337560" cy="502920"/>
          </a:xfrm>
          <a:prstGeom prst="rect">
            <a:avLst/>
          </a:prstGeom>
          <a:noFill/>
          <a:ln/>
        </p:spPr>
        <p:txBody>
          <a:bodyPr wrap="square" rtlCol="0" anchor="ctr"/>
          <a:lstStyle/>
          <a:p>
            <a:pPr marL="0" indent="0">
              <a:buNone/>
            </a:pPr>
            <a:r>
              <a:rPr lang="en-US" sz="1200" b="1" dirty="0">
                <a:solidFill>
                  <a:srgbClr val="0D2137"/>
                </a:solidFill>
              </a:rPr>
              <a:t>Prioritise Service Reliability Improvements</a:t>
            </a:r>
            <a:endParaRPr lang="en-US" sz="1200" dirty="0"/>
          </a:p>
        </p:txBody>
      </p:sp>
      <p:sp>
        <p:nvSpPr>
          <p:cNvPr id="14" name="Text 12"/>
          <p:cNvSpPr/>
          <p:nvPr/>
        </p:nvSpPr>
        <p:spPr>
          <a:xfrm>
            <a:off x="365760" y="3479292"/>
            <a:ext cx="3977640" cy="960120"/>
          </a:xfrm>
          <a:prstGeom prst="rect">
            <a:avLst/>
          </a:prstGeom>
          <a:noFill/>
          <a:ln/>
        </p:spPr>
        <p:txBody>
          <a:bodyPr wrap="square" rtlCol="0" anchor="ctr"/>
          <a:lstStyle/>
          <a:p>
            <a:pPr marL="0" indent="0">
              <a:buNone/>
            </a:pPr>
            <a:r>
              <a:rPr lang="en-US" sz="1100" dirty="0">
                <a:solidFill>
                  <a:srgbClr val="334155"/>
                </a:solidFill>
              </a:rPr>
              <a:t>Reduce transaction failures, app crashes, login issues, and OTP delays — together these account for 64% of customer dissatisfaction.</a:t>
            </a:r>
            <a:endParaRPr lang="en-US" sz="1100" dirty="0"/>
          </a:p>
        </p:txBody>
      </p:sp>
      <p:sp>
        <p:nvSpPr>
          <p:cNvPr id="15" name="Shape 13"/>
          <p:cNvSpPr/>
          <p:nvPr/>
        </p:nvSpPr>
        <p:spPr>
          <a:xfrm>
            <a:off x="4754880" y="1143000"/>
            <a:ext cx="4251960" cy="1508760"/>
          </a:xfrm>
          <a:prstGeom prst="rect">
            <a:avLst/>
          </a:prstGeom>
          <a:solidFill>
            <a:srgbClr val="FFFFFF"/>
          </a:solidFill>
          <a:ln/>
          <a:effectLst>
            <a:outerShdw blurRad="101600" dist="38100" dir="8100000" algn="bl" rotWithShape="0">
              <a:srgbClr val="000000">
                <a:alpha val="12000"/>
              </a:srgbClr>
            </a:outerShdw>
          </a:effectLst>
        </p:spPr>
      </p:sp>
      <p:sp>
        <p:nvSpPr>
          <p:cNvPr id="16" name="Shape 14"/>
          <p:cNvSpPr/>
          <p:nvPr/>
        </p:nvSpPr>
        <p:spPr>
          <a:xfrm>
            <a:off x="4892040" y="1307592"/>
            <a:ext cx="502920" cy="502920"/>
          </a:xfrm>
          <a:prstGeom prst="ellipse">
            <a:avLst/>
          </a:prstGeom>
          <a:solidFill>
            <a:srgbClr val="EF4444"/>
          </a:solidFill>
          <a:ln/>
        </p:spPr>
      </p:sp>
      <p:sp>
        <p:nvSpPr>
          <p:cNvPr id="17" name="Text 15"/>
          <p:cNvSpPr/>
          <p:nvPr/>
        </p:nvSpPr>
        <p:spPr>
          <a:xfrm>
            <a:off x="4892040" y="1307592"/>
            <a:ext cx="502920" cy="502920"/>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18" name="Text 16"/>
          <p:cNvSpPr/>
          <p:nvPr/>
        </p:nvSpPr>
        <p:spPr>
          <a:xfrm>
            <a:off x="5532120" y="1252728"/>
            <a:ext cx="3337560" cy="502920"/>
          </a:xfrm>
          <a:prstGeom prst="rect">
            <a:avLst/>
          </a:prstGeom>
          <a:noFill/>
          <a:ln/>
        </p:spPr>
        <p:txBody>
          <a:bodyPr wrap="square" rtlCol="0" anchor="ctr"/>
          <a:lstStyle/>
          <a:p>
            <a:pPr marL="0" indent="0">
              <a:buNone/>
            </a:pPr>
            <a:r>
              <a:rPr lang="en-US" sz="1200" b="1" dirty="0">
                <a:solidFill>
                  <a:srgbClr val="0D2137"/>
                </a:solidFill>
              </a:rPr>
              <a:t>Strengthen Fraud Detection &amp; Consumer Protection</a:t>
            </a:r>
            <a:endParaRPr lang="en-US" sz="1200" dirty="0"/>
          </a:p>
        </p:txBody>
      </p:sp>
      <p:sp>
        <p:nvSpPr>
          <p:cNvPr id="19" name="Text 17"/>
          <p:cNvSpPr/>
          <p:nvPr/>
        </p:nvSpPr>
        <p:spPr>
          <a:xfrm>
            <a:off x="4892040" y="1837944"/>
            <a:ext cx="3977640" cy="960120"/>
          </a:xfrm>
          <a:prstGeom prst="rect">
            <a:avLst/>
          </a:prstGeom>
          <a:noFill/>
          <a:ln/>
        </p:spPr>
        <p:txBody>
          <a:bodyPr wrap="square" rtlCol="0" anchor="ctr"/>
          <a:lstStyle/>
          <a:p>
            <a:pPr marL="0" indent="0">
              <a:buNone/>
            </a:pPr>
            <a:r>
              <a:rPr lang="en-US" sz="1100" dirty="0">
                <a:solidFill>
                  <a:srgbClr val="334155"/>
                </a:solidFill>
              </a:rPr>
              <a:t>Integrate complaint-based fraud signals into operational workflows for faster investigation, response, and customer protection.</a:t>
            </a:r>
            <a:endParaRPr lang="en-US" sz="1100" dirty="0"/>
          </a:p>
        </p:txBody>
      </p:sp>
      <p:sp>
        <p:nvSpPr>
          <p:cNvPr id="20" name="Shape 18"/>
          <p:cNvSpPr/>
          <p:nvPr/>
        </p:nvSpPr>
        <p:spPr>
          <a:xfrm>
            <a:off x="4754880" y="2839212"/>
            <a:ext cx="4251960" cy="1508760"/>
          </a:xfrm>
          <a:prstGeom prst="rect">
            <a:avLst/>
          </a:prstGeom>
          <a:solidFill>
            <a:srgbClr val="FFFFFF"/>
          </a:solidFill>
          <a:ln/>
          <a:effectLst>
            <a:outerShdw blurRad="101600" dist="38100" dir="8100000" algn="bl" rotWithShape="0">
              <a:srgbClr val="000000">
                <a:alpha val="12000"/>
              </a:srgbClr>
            </a:outerShdw>
          </a:effectLst>
        </p:spPr>
      </p:sp>
      <p:sp>
        <p:nvSpPr>
          <p:cNvPr id="21" name="Shape 19"/>
          <p:cNvSpPr/>
          <p:nvPr/>
        </p:nvSpPr>
        <p:spPr>
          <a:xfrm>
            <a:off x="4892040" y="2926080"/>
            <a:ext cx="502920" cy="502920"/>
          </a:xfrm>
          <a:prstGeom prst="ellipse">
            <a:avLst/>
          </a:prstGeom>
          <a:solidFill>
            <a:srgbClr val="0A5C6B"/>
          </a:solidFill>
          <a:ln/>
        </p:spPr>
      </p:sp>
      <p:sp>
        <p:nvSpPr>
          <p:cNvPr id="22" name="Text 20"/>
          <p:cNvSpPr/>
          <p:nvPr/>
        </p:nvSpPr>
        <p:spPr>
          <a:xfrm>
            <a:off x="4892040" y="2916936"/>
            <a:ext cx="502920" cy="502920"/>
          </a:xfrm>
          <a:prstGeom prst="rect">
            <a:avLst/>
          </a:prstGeom>
          <a:noFill/>
          <a:ln/>
        </p:spPr>
        <p:txBody>
          <a:bodyPr wrap="square" rtlCol="0" anchor="ctr"/>
          <a:lstStyle/>
          <a:p>
            <a:pPr marL="0" indent="0" algn="ctr">
              <a:buNone/>
            </a:pPr>
            <a:r>
              <a:rPr lang="en-US" sz="1400" b="1" dirty="0">
                <a:solidFill>
                  <a:srgbClr val="FFFFFF"/>
                </a:solidFill>
              </a:rPr>
              <a:t>4</a:t>
            </a:r>
            <a:endParaRPr lang="en-US" sz="1400" dirty="0"/>
          </a:p>
        </p:txBody>
      </p:sp>
      <p:sp>
        <p:nvSpPr>
          <p:cNvPr id="23" name="Text 21"/>
          <p:cNvSpPr/>
          <p:nvPr/>
        </p:nvSpPr>
        <p:spPr>
          <a:xfrm>
            <a:off x="5532120" y="2915383"/>
            <a:ext cx="3337560" cy="502920"/>
          </a:xfrm>
          <a:prstGeom prst="rect">
            <a:avLst/>
          </a:prstGeom>
          <a:noFill/>
          <a:ln/>
        </p:spPr>
        <p:txBody>
          <a:bodyPr wrap="square" rtlCol="0" anchor="ctr"/>
          <a:lstStyle/>
          <a:p>
            <a:pPr marL="0" indent="0">
              <a:buNone/>
            </a:pPr>
            <a:r>
              <a:rPr lang="en-US" sz="1200" b="1" dirty="0">
                <a:solidFill>
                  <a:srgbClr val="0D2137"/>
                </a:solidFill>
              </a:rPr>
              <a:t>Establish Data-Driven Regulatory Oversight</a:t>
            </a:r>
            <a:endParaRPr lang="en-US" sz="1200" dirty="0"/>
          </a:p>
        </p:txBody>
      </p:sp>
      <p:sp>
        <p:nvSpPr>
          <p:cNvPr id="24" name="Text 22"/>
          <p:cNvSpPr/>
          <p:nvPr/>
        </p:nvSpPr>
        <p:spPr>
          <a:xfrm>
            <a:off x="4892040" y="3387852"/>
            <a:ext cx="3977640" cy="960120"/>
          </a:xfrm>
          <a:prstGeom prst="rect">
            <a:avLst/>
          </a:prstGeom>
          <a:noFill/>
          <a:ln/>
        </p:spPr>
        <p:txBody>
          <a:bodyPr wrap="square" rtlCol="0" anchor="ctr"/>
          <a:lstStyle/>
          <a:p>
            <a:pPr marL="0" indent="0">
              <a:buNone/>
            </a:pPr>
            <a:r>
              <a:rPr lang="en-US" sz="1100" dirty="0">
                <a:solidFill>
                  <a:srgbClr val="334155"/>
                </a:solidFill>
              </a:rPr>
              <a:t>Leverage ecosystem-wide dashboards to support proactive supervision, evidence-based interventions, and accountability across all fintech providers.</a:t>
            </a:r>
            <a:endParaRPr lang="en-US" sz="1100" dirty="0"/>
          </a:p>
        </p:txBody>
      </p:sp>
      <p:sp>
        <p:nvSpPr>
          <p:cNvPr id="25" name="Shape 23"/>
          <p:cNvSpPr/>
          <p:nvPr/>
        </p:nvSpPr>
        <p:spPr>
          <a:xfrm>
            <a:off x="274320" y="4439412"/>
            <a:ext cx="8595360" cy="562356"/>
          </a:xfrm>
          <a:prstGeom prst="rect">
            <a:avLst/>
          </a:prstGeom>
          <a:solidFill>
            <a:srgbClr val="00A896"/>
          </a:solidFill>
          <a:ln/>
        </p:spPr>
      </p:sp>
      <p:sp>
        <p:nvSpPr>
          <p:cNvPr id="26" name="Text 24"/>
          <p:cNvSpPr/>
          <p:nvPr/>
        </p:nvSpPr>
        <p:spPr>
          <a:xfrm>
            <a:off x="411480" y="4439412"/>
            <a:ext cx="8321040" cy="562356"/>
          </a:xfrm>
          <a:prstGeom prst="rect">
            <a:avLst/>
          </a:prstGeom>
          <a:noFill/>
          <a:ln/>
        </p:spPr>
        <p:txBody>
          <a:bodyPr wrap="square" rtlCol="0" anchor="ctr"/>
          <a:lstStyle/>
          <a:p>
            <a:pPr marL="0" indent="0" algn="ctr">
              <a:buNone/>
            </a:pPr>
            <a:r>
              <a:rPr lang="en-US" sz="1000" b="1" dirty="0">
                <a:solidFill>
                  <a:srgbClr val="FFFFFF"/>
                </a:solidFill>
              </a:rPr>
              <a:t>Deploy Pesa Salama as Kenya's national fintech intelligence platform  that enables real-time consumer risk monitoring, earlier intervention, and a safer financial ecosystem.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786</Words>
  <Application>Microsoft Office PowerPoint</Application>
  <PresentationFormat>On-screen Show (16:9)</PresentationFormat>
  <Paragraphs>144</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Pesa Salama – Executive Summary</dc:title>
  <dc:subject>PptxGenJS Presentation</dc:subject>
  <dc:creator>PptxGenJS</dc:creator>
  <cp:lastModifiedBy>DANIEL O</cp:lastModifiedBy>
  <cp:revision>2</cp:revision>
  <dcterms:created xsi:type="dcterms:W3CDTF">2026-06-08T07:06:56Z</dcterms:created>
  <dcterms:modified xsi:type="dcterms:W3CDTF">2026-06-08T07:19:14Z</dcterms:modified>
</cp:coreProperties>
</file>